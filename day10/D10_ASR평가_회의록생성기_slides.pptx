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2주차 마지막 날입니다. 오전(1~2교시)은 받아쓰기를 공정하게 채점하는 법, 오후(3~4교시)는 D8 · D9 부품으로 자동 회의록 생성기를 완성하고 발표합니다. 오른쪽이 최종 결과물 모양입니다.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질문에 한 문장씩 답할 수 있고, 동작하는 데모를 발표하면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설치(3~5분)와 시험 음성 만들기는 수업 시작과 함께. HF_TOKEN · ANTHROPIC_API_KEY는 선택입니다. 없어도 끝까지 진행됩니다.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분모는 정답의 길이입니다. 끼어듦이 많으면 100%를 넘을 수 있어서 "WER 30% = 70% 맞힘"이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D6 CTC · D9 격자와 같은 동적 계획법입니다. 위 = 빠짐, 왼쪽 = 끼어듦, 대각선 = 같음(0) 또는 바꿈(1). 오른쪽 아래 칸이 최소 고침 횟수.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한국어 띄어쓰기는 사람 · 모델마다 다릅니다. 그래서 한국어 ASR은 CER로, 띄어쓰기를 아예 무시하려면 공백 뺀 CER도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jiwer.cer(REFS, HYPS)는 문장별 평균이 아니라 전체 합산입니다. visualize_alignment로 문장마다 S · D · I 위치를 직접 읽게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모두 "표기만 다른" 경우라 정규화 없이 재면 모델이 실제보다 나빠 보입니다. 단, 정규화를 과하게 하면 진짜 오류까지 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순서가 중요합니다. 문장 부호를 공백으로 바꾸면 공백이 여러 칸 생기므로 공백 정리는 맨 마지막. 용어 사전은 소문자로 바꾼 뒤 적용합니다.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자리 번호 i로 UNITS[i]를 붙이고, 십 · 백 · 천 자리의 1은 생략합니다. 3시는 "세 시", 10월은 "시월"이라 규칙만으로는 다 맞출 수 없습니다. 한계를 보고서에 적게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보고서에는 정규화 전 · 후 두 숫자와 규칙을 함께 씁니다. 3주차 D14에서 Fine-tuning 전후 · 상용 API 비교에 이 함수를 그대로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D8 · D9 부품을 함수 하나로. 요구사항 R1~R6을 하나씩 체크하며 진행합니다. 3교시는 R1~R3, 4교시는 R4~R6.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로딩은 비쌉니다. 함수 밖에서 한 번만 불러 두고 함수는 그 모델을 씁니다. HF_TOKEN이 없으면 diarize()가 D9의 직접 만든 방법으로 자동 전환합니다.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형식이 정해져야 코드가 받을 수 있고, 추측 금지 규칙이 있어야 환각이 줄어듭니다. MODEL은 claude-haiku-5-5(빠르고 저렴)로 시작해 claude-sonnet-5-5와 비교해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답이 완벽한 JSON이라는 보장은 없습니다. 실패하면 규칙 기반 요약으로 넘어가 데모가 멈추지 않게 합니다. 형식을 강제하는 tool use + strict 스키마는 D23에서.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render_minutes()가 마크다운을 만들고, .md와 .json으로 저장합니다. json은 D25 음성 비서, D31 API 서버에서 다른 프로그램이 읽어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정답(SCRIPT · TURNS)을 알아서 세 단계를 모두 잴 수 있습니다. 키워드 점검은 거친 점검일 뿐이라 최종 확인은 사람이 읽고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share=True면 gradio.live 공개 링크가 생깁니다. 옆 사람에게 링크를 보내 자기 목소리로 시험해 보게 하세요. 녹음 · 회의 내용은 개인정보이므로 공유 링크 사용에 주의합니다.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채점 기준: 동작하는 데모 40 · 평가표 30 · 오류 분석 20 · 개선 시도 10. 발표 자료(평가표 · 회의록 캡처)는 노션 제출 페이지에 함께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탭까지 채점한 뒤 노션에 캡처해 제출하게 합니다. 2주차(D6~D10) 전체를 돌아보는 한 장으로 마무리하세요.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0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0/animation.html#editdist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0/animation.html#wercer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0/animation.html#norm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0/animation.html#number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0/animation.html#pipeline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0/animation.html#promp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0/animation.html#eval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0/animation.html#dem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0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평가 + 미니 프로젝트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회의록 생성기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WER · CER · 편집 거리 → jiwer · 한국어 정규화 → 회의록 파이프라인 조립 → LLM 요약(결정 · 할 일) → 평가 · Gradio 데모 · 발표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M2 마무리 · 4시간 · 금요일 미니 프로젝트 · 실습 노트북 Part 1 ~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회의록 (자동 생성 · 요약: Claude)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결정 사항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받아쓰기: Whisper small 유지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평가: 정규화 후 CER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할 일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박대리   | 단어 시각 정렬 | 수요일 |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이연구원 | 평가 스크립트  | 목요일 |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 9.8% → 4.1% (정규화 후) · 화자 96%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녹음에 따라 달라집니다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받아쓰기를 몇 점으로 매기고, 회의록 생성기를 어떻게 완성하나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5087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50876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WER · CER은 무엇을 세고, 편집 거리는 어떻게 구하나?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50876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295144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29514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295144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받아쓰기를 공정하게 채점하려면 무엇을 맞춰야 하나?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29514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081528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308152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3081528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D8 · D9 부품을 어떻게 함수 하나로 조립하나?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308152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867912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86791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867912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LLM에게 요약 · 결정 · 할 일을 어떤 모양으로 받나?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86791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654296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65429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654296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생성기를 어떻게 평가하고 시연하나?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65429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오전은 채점법, 오후는 미니 프로젝트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pic>
        <p:nvPicPr>
          <p:cNvPr id="6" name="Image 0" descr="/home/claude/d10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WER · CER의 뜻(S · D · I), 편집 거리 표 직접 채우기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1 · 빈칸 1 ~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jiwer, 한국어 채점의 함정 다섯 가지, 정규화 함수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2 · 빈칸 3 ~ 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🛠️ 미니 프로젝트 ①: 회의록 파이프라인 조립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🛠️ 미니 프로젝트 ②: LLM 요약 · 평가 · Gradio · 발표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~ 6 · 빈칸 8 ~ 9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D10-1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WER · CER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만들려면 빨간 펜으로 몇 번 고쳐야 하나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5522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핵심 식 하나: WER = (S + D + I) ÷ 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법: 정답 단어 N개 중 몇 개를 고쳐야 했나. CER은 같은 식을 글자 단위로.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58521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 (정답 → 결과)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 바꿈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말로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→ 3시에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빠짐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결과에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시작합니다 → 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 끼어듦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결과에만 있음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∅ → 바로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길이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675120" y="1371600"/>
            <a:ext cx="4965192" cy="1737360"/>
          </a:xfrm>
          <a:prstGeom prst="roundRect">
            <a:avLst>
              <a:gd name="adj" fmla="val 421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39712" y="1463040"/>
            <a:ext cx="4636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받아쓰기 시험 채점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선생님이 빨간 펜으로 틀린 글자를 고치고(바꿈), 빠뜨린 글자를 넣고(빠짐), 쓸데없는 글자를 지운다(끼어듦). 같은 답안이라도 가장 적게 고치는 방법으로 센다.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675120" y="3291840"/>
            <a:ext cx="4965192" cy="1280160"/>
          </a:xfrm>
          <a:prstGeom prst="roundRect">
            <a:avLst>
              <a:gd name="adj" fmla="val 428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39712" y="3364992"/>
            <a:ext cx="46360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jiwer.wer("네 좋습니다",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"네 네 네 좋습니다 감사합니다")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1.5  (150%: 끼어듦 3개 ÷ 정답 2개)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편집 거리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칸마다 세 방향 중 최소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pic>
        <p:nvPicPr>
          <p:cNvPr id="6" name="Image 0" descr="/home/claude/d10/build/fig_dark/edit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25" y="1325880"/>
            <a:ext cx="8168446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206240"/>
            <a:ext cx="6583680" cy="1143000"/>
          </a:xfrm>
          <a:prstGeom prst="roundRect">
            <a:avLst>
              <a:gd name="adj" fmla="val 48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279392"/>
            <a:ext cx="625449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d[i, j] = min(d[i-1, j] + 1,        # 빠짐 (D)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d[i, j-1] + 1,        # 끼어듦 (I)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d[i-1, j-1] + cost)   # 같음 0 · 바꿈 1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544068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51383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____  → cost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931920" y="544068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069080" y="551383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____  → len(r)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406640" y="4206240"/>
            <a:ext cx="423367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543800" y="420624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D10-2 편집 거리 표 채우기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 · 한국어는 CER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띄어쓰기 하나로 WER은 100%, CER은 12.5%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pic>
        <p:nvPicPr>
          <p:cNvPr id="6" name="Image 0" descr="/home/claude/d10/build/fig_dark/werc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811" y="1325880"/>
            <a:ext cx="8858073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251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오류율은 출발점일 뿐. "했습니다 → 안 했습니다"처럼 한 글자로 뜻이 뒤집히는 오류는 숫자로는 작아 보인다.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8640" y="489204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" y="48920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D10-3 WER vs CER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jiwer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목록을 통째로: 전체 고침 ÷ 전체 정답 길이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766560" cy="2926080"/>
          </a:xfrm>
          <a:prstGeom prst="roundRect">
            <a:avLst>
              <a:gd name="adj" fmla="val 187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43737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raw_wer = jiwer.wer(REFS, HYPS)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raw_cer = jiwer.cer(REFS, HYPS)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jiwer.process_words(REFS, HYPS)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out.substitutions, out.deletions, out.insertions, out.hits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print(jiwer.visualize_alignment(out))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REF: 회의를   세 시에 시작합니다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HYP: 회의를 3시에 바로 시작합니다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S  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4480560"/>
            <a:ext cx="6766560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553712"/>
            <a:ext cx="6492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jiwer.____(REFS, HYPS)  → cer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371600"/>
          <a:ext cx="4050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391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돌려주는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wer · cer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process_words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 · D · I · 맞음 개수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process_characters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 단위 같은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visualize_alignment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 맞춘 비교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한국어 채점의 함정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뜻은 같은데 글자가 다르다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pic>
        <p:nvPicPr>
          <p:cNvPr id="6" name="Image 0" descr="/home/claude/d10/build/fig_dark/kor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791" y="1325880"/>
            <a:ext cx="8932113" cy="2834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343400"/>
            <a:ext cx="11094415" cy="1143000"/>
          </a:xfrm>
          <a:prstGeom prst="roundRect">
            <a:avLst>
              <a:gd name="adj" fmla="val 64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434840"/>
            <a:ext cx="1076523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맞춤법 채점 기준표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전에 "숫자는 한글로 써도 정답, 쉼표는 안 봄" 같은 기준표를 정해 두고 모든 답안에 똑같이 적용한다. 학생마다 기준을 바꾸면 공정하지 않다.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 · 정규화 함수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정답과 결과에 똑같이: 네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pic>
        <p:nvPicPr>
          <p:cNvPr id="6" name="Image 0" descr="/home/claude/d10/build/fig_dark/n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344" y="1325880"/>
            <a:ext cx="8201006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40480"/>
            <a:ext cx="6949440" cy="2011680"/>
          </a:xfrm>
          <a:prstGeom prst="roundRect">
            <a:avLst>
              <a:gd name="adj" fmla="val 272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913632"/>
            <a:ext cx="662025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s.lower()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re.sub(r"[^\w\s]", " ", s)              # ① 문장 부호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re.sub(r"\d+", lambda m: num2kor(int(m.group())), s)  # 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k, v in TERMS.items(): s = s.replace(k, v)  # ③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re.sub(r"\s+", " ", s).strip()            # ④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772400" y="3840480"/>
            <a:ext cx="3867912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09560" y="3913632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s.replace(k, ____)  → v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0" y="4553712"/>
            <a:ext cx="3867912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09560" y="4626864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re.sub(r"\s+", ____, s)  → " "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772400" y="530352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09560" y="530352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D10-4 정규화 단계 켜고 끄기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 · 숫자 읽기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num2kor(2026) = 이천이십육 — 그리고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035040" cy="2468880"/>
          </a:xfrm>
          <a:prstGeom prst="roundRect">
            <a:avLst>
              <a:gd name="adj" fmla="val 222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570585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= "영일이삼사오육칠팔구"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 = ["", "십", "백", "천"]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ch in enumerate(reversed(str(n))):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int(ch)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 == 0: continue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("" if (d == 1 and i &gt; 0) else DIG[d])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UNITS[i] + 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603504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050792"/>
            <a:ext cx="5760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UNITS[____]  → i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371600"/>
          <a:ext cx="47823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764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num2kor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읽기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이천이십육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이천이십육 ✓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2500만 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이천오백만 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같음 ✓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시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십월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시월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858000" y="3474720"/>
            <a:ext cx="47823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995160" y="3474720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D10-5 숫자 읽기 실험실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규칙은 없다. 규칙을 정하고, 양쪽에 똑같이, 보고서에 적는다.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· 정규화 전후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줄어든 만큼이 "표기만 다른" 오류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291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 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9.8% (예시)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 차이 + 진짜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 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4.1% (예시)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진짜 오류 (모델 실력)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공백 무시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3.2% (예시)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띄어쓰기까지 무시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417320"/>
            <a:ext cx="3959352" cy="1828800"/>
          </a:xfrm>
          <a:prstGeom prst="roundRect">
            <a:avLst>
              <a:gd name="adj" fmla="val 4000"/>
            </a:avLst>
          </a:prstGeom>
          <a:solidFill>
            <a:srgbClr val="161D29"/>
          </a:solidFill>
          <a:ln w="15875">
            <a:solidFill>
              <a:srgbClr val="F06A5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818120" y="1508760"/>
            <a:ext cx="3685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과한 정규화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조사(은 · 는 · 이 · 가)까지 지우면 CER은 더 내려가지만 "김팀장이 → 김팀장은" 같은 진짜 오류가 숨는다.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3429000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3232" y="3502152"/>
            <a:ext cx="1076523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보고서 예: CER 9.8% (정규화 전) / 4.1% (정규화 후: 소문자 · 문장 부호 제거 · 숫자 한글화 · 용어 사전 · 공백 정리)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🛠️ 미니 프로젝트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회의록 생성기: 녹음 하나 → 회의록 한 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pic>
        <p:nvPicPr>
          <p:cNvPr id="6" name="Image 0" descr="/home/claude/d10/build/fig_dark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3833" y="1325880"/>
            <a:ext cx="8484030" cy="265176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94415" cy="914400"/>
        </p:xfrm>
        <a:graphic>
          <a:graphicData uri="http://schemas.openxmlformats.org/drawingml/2006/table">
            <a:tbl>
              <a:tblPr/>
              <a:tblGrid>
                <a:gridCol w="1849069"/>
                <a:gridCol w="1849069"/>
                <a:gridCol w="1849069"/>
                <a:gridCol w="1849069"/>
                <a:gridCol w="1849069"/>
                <a:gridCol w="1849069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받아쓰기 + 단어 시각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[분:초] 화자: 발언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· 결정 · 할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Gradio 데모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120640"/>
            <a:ext cx="54864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85800" y="51206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D10-6 회의록 파이프라인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파이프라인 조립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한 번만, 함수는 작게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3566160"/>
          </a:xfrm>
          <a:prstGeom prst="roundRect">
            <a:avLst>
              <a:gd name="adj" fmla="val 153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wx = whisperx.load_model("small", DEVICE, compute_type=CT, language="ko")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align_model, meta = whisperx.load_align_model("ko", DEVICE)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 = DiarizationPipeline(token=HF_TOKEN, ...) if HF_TOKEN else None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transcribe_align(y): ...      # R1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diarize(y, num_speakers): ...  # R2 (pyannote 또는 직접)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to_lines(aligned, diar): ...   # R3 단어에 화자 + 줄 묶기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fmt_time(t):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f"{int(t // 60):02d}:{int(t % 60):02d}"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074920"/>
            <a:ext cx="694944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148072"/>
            <a:ext cx="6675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int(t % ____)  → 60   (205초 → 03:25)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1371600"/>
            <a:ext cx="3867912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36992" y="1463040"/>
            <a:ext cx="3538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주방 미리 준비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손님(녹음)이 올 때마다 냉장고에서 재료를 꺼내 손질하면 늦다. 영업 전에 재료를 손질해 두고(모델 로딩), 주문이 오면 조리만 한다(함수 호출).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3566160"/>
          <a:ext cx="38679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96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num_speakers=3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모르면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 → 기준으로 멈춤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LLM 요약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· 입력 · 규칙 · 출력 형식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pic>
        <p:nvPicPr>
          <p:cNvPr id="6" name="Image 0" descr="/home/claude/d10/build/fig_dark/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857" y="1325880"/>
            <a:ext cx="8643981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206240"/>
            <a:ext cx="6949440" cy="1417320"/>
          </a:xfrm>
          <a:prstGeom prst="roundRect">
            <a:avLst>
              <a:gd name="adj" fmla="val 3871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279392"/>
            <a:ext cx="662025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anthropic.Anthropic(api_key=ANTHROPIC_API_KEY)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client.messages.create(model=MODEL, max_tokens=1500, system=SYSTEM,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messages=[{"role": "user", "content": prompt}])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772400" y="4206240"/>
            <a:ext cx="3867912" cy="1417320"/>
          </a:xfrm>
          <a:prstGeom prst="roundRect">
            <a:avLst>
              <a:gd name="adj" fmla="val 516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36992" y="4297680"/>
            <a:ext cx="3538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비서에게 양식 주기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"요약해 줘"보다 "이 양식으로, 없는 말은 쓰지 말고, 누가 · 언제까지를 꼭" 이라고 부탁해야 원하는 결과가 온다.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JSON 받기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펜스 떼기 → json.loads → 키 검사 → 대안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parse_json(text):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text.strip()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text.startswith("```"):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 = text.split("\n", 1)[1].rsplit("```", 1)[0]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json.loads(text)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 in ["summary", "decisions", "action_items"]: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data.setdefault(k, [])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694944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599432"/>
            <a:ext cx="6675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json.____(text)  → loads   (load + string)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490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기반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지어냄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 (규칙으로 줄임)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모으기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필요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772400" y="352044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09560" y="352044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D10-7 프롬프트 만들기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 · 회의록 문서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· 결정 · 할 일 + 화자별 녹취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pic>
        <p:nvPicPr>
          <p:cNvPr id="6" name="Image 0" descr="/home/claude/d10/build/fig_dark/min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185" y="1325880"/>
            <a:ext cx="9565325" cy="3108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617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"담당: 박대리"가 틀렸다면? 화자 분리 · 받아쓰기 · LLM 중 어디서 틀렸는지 단계별로 확인한다.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평가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단계마다 따로 잰다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pic>
        <p:nvPicPr>
          <p:cNvPr id="6" name="Image 0" descr="/home/claude/d10/build/fig_dark/e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211" y="1325880"/>
            <a:ext cx="9547274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023360"/>
            <a:ext cx="6949440" cy="1097280"/>
          </a:xfrm>
          <a:prstGeom prst="roundRect">
            <a:avLst>
              <a:gd name="adj" fmla="val 5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096512"/>
            <a:ext cx="6620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= {k: any(normalize(w) in summary_text for w in kws) ...}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sum(found.values()) / len(KEY_POINTS)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5257800"/>
            <a:ext cx="6949440" cy="640080"/>
          </a:xfrm>
          <a:prstGeom prst="roundRect">
            <a:avLst>
              <a:gd name="adj" fmla="val 8571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330952"/>
            <a:ext cx="6675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len(____)  → KEY_POINTS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0" y="402336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09560" y="402336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D10-8 평가표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Gradio 데모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 올리기 → 회의록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run_demo(audio_path, n_spk):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y, _ = librosa.load(audio_path, sr=SR, mono=True)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md_out, _ = make_minutes(y, num_speakers=int(n_spk) or None)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md_out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= gr.Interface(fn=run_demo,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inputs=[gr.Audio(type="filepath"), gr.Number(value=0)],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outputs=gr.Markdown(), title="자동 회의록 생성기")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demo.launch(share=True)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694944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57200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D10-9 회의록 화면 미리 보기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0" y="1371600"/>
            <a:ext cx="3867912" cy="1828800"/>
          </a:xfrm>
          <a:prstGeom prst="roundRect">
            <a:avLst>
              <a:gd name="adj" fmla="val 4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36992" y="1463040"/>
            <a:ext cx="35387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가게 진열대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주방(노트북 함수)에서 만든 요리를 손님이 볼 수 있게 진열대(Gradio 화면)에 올린다. 손님은 주방을 몰라도 주문(녹음 올리기)만 하면 된다.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 · 🎤 발표 (팀당 3분)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→ 평가표 → 오류 분석 → 개선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179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46304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데모: Gradio에 녹음 하나 → 회의록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751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192024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평가표: CER(전 · 후) · 화자 정확도 · 요약 점검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4323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237744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틀린 곳 하나와 원인 (받아쓰기 / 화자 / 요약)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88950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283464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바꾼 것: 용어 사전 · 거리 기준 · 프롬프트 규칙 · 모델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463040"/>
          <a:ext cx="43251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819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동작하는 데모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분석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시도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됐다"보다 "어디서 왜 틀렸고 어떻게 고치겠다"가 더 좋은 발표다.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마무리와 3주차 예고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거리 표로 WER · CER을 직접 계산했다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jiwer로 채점하고 S · D · I를 읽었다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함수를 만들어 전 · 후 CER을 비교했다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D8 · D9 부품으로 회의록 파이프라인을 조립했다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LLM(또는 규칙)으로 요약 · 결정 · 할 일을 뽑았다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평가표를 만들고 Gradio로 시연 · 발표했다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3주차 · D11 한국어 음성 데이터셋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2주차는 Whisper를 있는 그대로 잘 쓰는 법이었습니다. 3주차는 우리 데이터로 고쳐 쓰기(Fine-tuning). D11에서 AIHub · KsponSpeech · Zeroth-Korean을 불러와 전처리합니다. 오늘의 normalize()가 데이터 정리와 평가에 다시 나옵니다.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D10_ASR평가_회의록생성기_실습.ipynb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 · 미니 프로젝트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D10 ASR 평가 &amp; 회의록 생성기</dc:title>
  <dc:subject>PptxGenJS Presentation</dc:subject>
  <dc:creator>PptxGenJS</dc:creator>
  <cp:lastModifiedBy>PptxGenJS</cp:lastModifiedBy>
  <cp:revision>1</cp:revision>
  <dcterms:created xsi:type="dcterms:W3CDTF">2026-10-15T07:17:01Z</dcterms:created>
  <dcterms:modified xsi:type="dcterms:W3CDTF">2026-10-15T07:17:01Z</dcterms:modified>
</cp:coreProperties>
</file>