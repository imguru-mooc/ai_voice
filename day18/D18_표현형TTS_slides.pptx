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"정말요." "정말요?" "정말요!"를 직접 소리 내어 보여 주며 시작하세요. 글자는 같은데 뜻이 다릅니다. 어제까지는 무엇을 말할지, 오늘은 어떻게 말할지입니다. 수업 시작 전에 T4 런타임 확인과 Part 0 설치를 먼저 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Part 3 exaggeration 표와 Part 6 비교표를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내려받기(Chatterbox 약 3 GB, F5 약 1.3 GB)가 있으니 Part 0 설치 직후 Part 2 첫 셀까지 바로 실행하게 하세요. 오늘은 스피커로 같이 듣는 셀이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문장을 차분하게 / 신나게 읽어 보이고, 무엇이 달라졌는지 학생이 말하게 하세요. 대개 "높낮이", "빠르기", "크기"가 나옵니다. 쉼은 놓치기 쉬우니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직접 해 보는 것은 ① · ②입니다. ③ Chatterbox Turbo 태그는 영어 전용, ④ CosyVoice instruct는 전용 환경이 필요해 표와 애니메이션으로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T3는 챗봇이 단어를 고르듯 소리 토큰을 하나씩 고릅니다(초당 25개). STOP을 고르면 끝 → 길이가 매번 조금 다름. 뒷부분 S3Gen · HiFT는 CosyVoice의 설계. 마지막에 Perth 워터마크.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1 "ko", 빈칸 2 S3_TOKEN_RATE(25). 다음 실험에서 "3시", "12,500원"을 원문 그대로 / normalize_ko 후로 만들어 Whisper로 받아쓰기 → 대개 정규화 쪽 CER이 낮음.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exaggeration은 숫자 하나 → Linear(1 → 1024) → T3 맨 앞 벡터 1개. cfg_weight는 글자를 본 예측과 가린 예측의 차이를 w배 키움. 이미지 생성의 guidance scale과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3은 cond − uncond. 빈칸 4는 f0v(유성음 F0). 확인은 150 → 300 Hz chirp: 1옥타브 12반음 중 위아래 10%를 뺀 폭 ≈ 9.6반음. 반음은 비율이라 남녀 비교가 공정합니다.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실험은 같은 씨앗 · cfg 0.5에서 exaggeration만 0.25 → 1.0. 대체로 음높이 폭 · 세기 변화 · 음절/초가 커짐(실행마다 다름). 빈칸 5는 README 팁 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"내일 다시 오신다고요." / "?" / "!"를 들려주고 끝 0.6초 평균 반음을 비교. 물음표가 대체로 끝이 올라감. 5주차 연결: LLM 답에서 마크다운 기호는 지우되 문장 부호는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prepare_conditionals: 앞 6초 → T3 토큰 최대 150개, 앞 10초 → S3Gen, 전체 → 화자 임베딩. 결과가 model.conds에 남아 다음 호출에도 쓰이므로 BUILTIN 복사본으로 되돌립니다.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영어 예제 음성(F5 패키지에 든 공개 파일)으로 한국어를 말하게 합니다. 학생에게 "영어 억양이 덜한 쪽"을 귀로 고르게 한 뒤 CER과 비교. 팁도 내 데이터로 재 보고 받아들입니다.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F5는 참고 글자 + 만들 글자를 이어 넣고, 참고 mel 뒤 빈칸만 flow matching으로 채웁니다. 그래서 참고 음성의 대본이 정확해야 합니다. 기본 가중치는 CC BY-NC(비상업).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8은 speed. 예측과 실제가 1 ~ 3% 다른 것은 대본 끝 공백 · 프레임(256 샘플) 단위 때문. 한글은 UTF-8로 3바이트 → 영어 참고 기준이면 느리게 계산. nfe_step은 속도 ↔ 품질.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화자 유사도는 Chatterbox 자신의 VoiceEncoder로 쟀으므로 Chatterbox에 조금 유리할 수 있습니다. 공정한 평가는 제3의 화자 인식 모델과 여러 문장 · 청취 평가로(D20).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Chatterbox 결과 ≈ 1, F5-TTS 결과와 사람 녹음 ≈ 0. 0이라고 사람 목소리라는 뜻은 아님(워터마크 없는 TTS가 많음). 압축 · 잡음 · 속도 변경에 얼마나 버티는지는 D19에서 실험.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CosyVoice는 오늘 실행하지 않습니다(git clone + 전용 환경). instruct2에 지시문 + &lt;|endofprompt|&gt;. Chatterbox의 S3Gen이 CosyVoice 설계라는 연결을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숫자 · 참고 음성 · 태그 · 지시로 말투를 바꾸고, 운율 · 받아쓰기 · 유사도 · 워터마크로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세 가지를 안내하고 워크시트 4교시까지 채점 → 노션 제출. Part 3 표와 Part 6 비교표를 함께 붙이게 하세요. 과제 2의 본인 녹음은 제출 후 삭제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8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8/animation.html#knobs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8/animation.html#arch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8/animation.html#prosody" TargetMode="External"/><Relationship Id="rId2" Type="http://schemas.openxmlformats.org/officeDocument/2006/relationships/hyperlink" Target="https://imguru-mooc.github.io/AI_Voice/day18/animation.html#cf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8/animation.html#promp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8/animation.html#f5" TargetMode="External"/><Relationship Id="rId3" Type="http://schemas.openxmlformats.org/officeDocument/2006/relationships/hyperlink" Target="https://imguru-mooc.github.io/AI_Voice/day18/animation.html#arnar" TargetMode="Externa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8/animation.html#compa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8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표현형 TTS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다른 말투로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운율 4요소 · 제어 4방식 → Chatterbox(exaggeration · CFG · 참고 음성) → F5-TTS(flow matching · 길이 식) → 같은 조건 비교 · 워터마크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M4 · 4시간 · T4 GPU 필수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드디어 합격했어요!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model.generate(text, language_id="ko",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exaggeration=0.25 → 1.0)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음높이 폭  … 반음  →  … 반음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음절 / 초  …       →  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워터마크  Chatterbox 1.0 · F5-TTS 0.0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말투는 어떻게 조절하고, 어떻게 재나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운율은 무엇으로 이루어지고, 말투를 조절하는 방법은 몇 가지인가?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Chatterbox는 어떤 순서로 글자를 소리로 바꾸나? 한국어 숫자는?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exaggeration과 cfg_weight는 모델 안 어디에서 무엇을 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말투가 바뀐 것을 숫자(반음 · 음절/초)로 어떻게 재나?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음성은 무엇을 옮기고, 무엇을 조심해야 하나?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F5-TTS는 길이를 어떻게 정하고, 두 모델은 어떻게 비교하나?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~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조절하고 → 재고 → 비교한다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운율 4요소 · 제어 4방식, 설치, Chatterbox 구조 · 첫 합성, 숫자 정규화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·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 · CFG, 운율 측정(반음 · 음절/초), 프리셋, 문장 부호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· 4 ·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음성으로 말투 옮기기 · 언어 섞임, F5-TTS · 길이 식 · nfe_step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· 7 ·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조건 비교(RTF · WER · 화자 유사도 · 워터마크), 모델 선택,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운율(prosody)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· 세기 · 빠르기 · 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pros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51" y="1325880"/>
            <a:ext cx="10674994" cy="3017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소리에서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재는 숫자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 (Hz)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· 음높이 폭(반음)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세기 변화 (dB 표준편차)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초당 음절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음절 / 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 사이 침묵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무음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452628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302752" y="461772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같은 대본, 다른 배우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대본(글자)은 같아도 연기(운율)에 따라 뜻이 달라진다.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말투 조절 4방식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· 참고 음성 · 태그 · 말로 지시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kn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068" y="1325880"/>
            <a:ext cx="9001560" cy="30175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669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어울리는 조합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콜센터 안내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낮은 exaggeration 프리셋 + 결과 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오디오북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장면별 참고 음성 + ① 미세 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 캐릭터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캐릭터 목소리 + ③ 태그(웃음 · 한숨)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52628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5262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D18-2 말투 조절 4방식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Chatterbox 해부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길이(샘플) ≈ 소리 토큰 수 × 960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006" y="1325880"/>
            <a:ext cx="8757684" cy="32004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D16 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Kokoro (D17)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+ G2P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부호 정리 + 자모 분해 (숫자 읽기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Acoustic Model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(토큰 하나씩) + S3Gen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Predictor + Decoder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 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[STOP] (자기회귀)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pred_dur (한 번에)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412480" y="4709160"/>
            <a:ext cx="32278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549640" y="47091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D18-3 Chatterbox 해부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첫 합성과 숫자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모델도 숫자 읽기는 앞 처리가 필요하다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ChatterboxMultilingualTTS.from_pretrained(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device=DEVICE, t3_model="v3")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 = model.generate(TEXT1, language_id=____)   # 빈칸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SAMPLES_PER_TOKEN = SR // ____                  # 빈칸 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len(wav) == (토큰 수 − 1) × 960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1 → "ko"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2 → S3_TOKEN_RATE (25)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93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받는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3시에 만나요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[ko] 3 ㅅ ㅣ ㅇ ㅔ …  (숫자 그대로)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 시 · 쓰리 시 · 건너뛰기 등 모델 추측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시에 만나요 (normalize_ko)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[ko] ㅅ ㅔ ㅅ ㅣ ㅇ ㅔ 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바르게 읽음 → CER 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모든 한국어 실험은 normalize_ko를 거친 문장을 쓴다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감정 손잡이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logits = cond + w · (cond − uncond)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cf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33" y="1325880"/>
            <a:ext cx="10230428" cy="28346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7498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 (README 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cfg_weight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대부분의 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극적 · 표현력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 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0.3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화자가 말이 빠름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0.3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 언어 ≠ 합성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394192" y="4434840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가이드 멜로디 볼륨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cfg_weight ↑ = 가이드 멜로디를 크게. 정확하지만 개성 ↓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운율을 숫자로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반음 = 12 · log₂(f0 ÷ 중앙값)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1280160"/>
          </a:xfrm>
          <a:prstGeom prst="roundRect">
            <a:avLst>
              <a:gd name="adj" fmla="val 428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cfg_mix(cond, uncond, w):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cond + w * (____)            # 빈칸 3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6766560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907792"/>
            <a:ext cx="64373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f0, voiced, _ = librosa.pyin(y16, fmin=65, fmax=500, sr=16000, ...)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= 12 * np.log2(f0v / np.median(____))   # 빈칸 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음높이폭 = p90(st) − p10(st)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·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3 → cond - uncond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4 → f0v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834640"/>
          <a:ext cx="41422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620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P(토큰 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4663440"/>
            <a:ext cx="67665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46634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D18-8 운율 측정기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498080" y="466344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35240" y="466344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D18-4 CFG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exaggeration 실험과 프리셋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exaggeration은 감정의 크기, 종류가 아니다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음높이 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음절 / 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세기 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337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경향 (실제 숫자는 각자 실행 결과)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675120" y="1371600"/>
            <a:ext cx="4965192" cy="1920240"/>
          </a:xfrm>
          <a:prstGeom prst="roundRect">
            <a:avLst>
              <a:gd name="adj" fmla="val 285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39712" y="1444752"/>
            <a:ext cx="46360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PRESETS = {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"차분": dict(exaggeration=0.3, cfg_weight=0.5),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"기본": dict(exaggeration=0.5, cfg_weight=0.5),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"극적": dict(exaggeration=0.8, cfg_weight=____),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675120" y="3474720"/>
            <a:ext cx="4965192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12280" y="3547872"/>
            <a:ext cx="4690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5 → 0.3 (exaggeration ↑ 하면 말이 빨라짐 → cfg ↓)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3931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종류는 문장 내용 · 참고 음성 · 지시로 정한다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문장 부호도 손잡이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마침표 · 물음표 · 느낌표가 억양을 바꾼다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0.6초 (반음)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들리는 느낌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 다시 오신다고요.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내려감 (−)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평서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 다시 오신다고요?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올라감 (+)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되묻기 · 의문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 다시 오신다고요!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높고 강함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놀람 · 강조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경향 (실행마다 다름)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8138160" y="13716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02752" y="1463040"/>
            <a:ext cx="3172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대본의 지시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부호는 배우에게 주는 가장 작은 연기 지시. 모델은 이것을 학습 데이터에서 배웠다.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앞 처리에서 문장 부호를 지우면 억양도 사라진다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참고 음성으로 말투 옮기기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음성은 목소리와 말투를 함께 옮긴다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46888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BUILTIN = copy.deepcopy(model.conds)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styled(text, ref_path=None, **kw):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ref_path is None: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model.conds = copy.deepcopy(BUILTIN) 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model.generate(text, language_id="ko",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audio_prompt_path=____, **kw)      # 빈칸 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6 → ref_path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514600"/>
          <a:ext cx="41422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647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쓰이는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6초 → 토큰 ≤ 150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(말투 · 빠르기)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10초 → mel · x-vector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S3Gen (목소리 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→ 임베딩 256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(화자)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(exaggeration 0.5 동일)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경향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목소리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차분한 참고 음성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음높이 폭 ↓ · 느림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신나는 참고 음성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음높이 폭 ↑ · 빠름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8138160" y="406908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75320" y="40690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D18-5 참고 음성 → 조건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참고 음성의 언어가 다르면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억양 섞임 → cfg_weight = 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cfg_weight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들리는 느낌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 (기본)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영어식 리듬 · 억양이 묻어날 수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CER 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억양이 더 자연스러운 경향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CER 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2834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2개라 CER 차이는 작거나 반대로 나올 수 있음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7772400" y="1371600"/>
            <a:ext cx="386791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1463040"/>
            <a:ext cx="3502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오늘 참고 음성 규칙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만든 소리 · 공개 예제 파일 · 본인 목소리만. 다른 사람 목소리는 동의 없이는 금지.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절차와 탐지 기술은 D19.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3383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cfg_weight는 음색이 아니라 글자 따르기 · 말 빠르기에 작용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F5-TTS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mel 뒤의 빈칸을 32번 다듬어 채운다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171" y="1325880"/>
            <a:ext cx="8613352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123444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99432"/>
            <a:ext cx="64373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F5_REF_TEXT = ____                          # 빈칸 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wav, sr, spec = f5.infer(ref_file=REF_EN, ref_text=F5_REF_TEXT,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gen_text=GEN_EN, nfe_step=32)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98080" y="4526280"/>
            <a:ext cx="4142232" cy="1234440"/>
          </a:xfrm>
          <a:prstGeom prst="roundRect">
            <a:avLst>
              <a:gd name="adj" fmla="val 4444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35240" y="4599432"/>
            <a:ext cx="38679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 → REF_EN_TEXT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"Some call me nature, others call me mother nature."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F5는 길이를 계산한다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= 참고 초 ÷ 참고 바이트 × 만들 바이트 ÷ speed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pic>
        <p:nvPicPr>
          <p:cNvPr id="6" name="Image 0" descr="/home/claude/d18/build/fig_dark/ar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633" y="1325880"/>
            <a:ext cx="851643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676656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50792"/>
            <a:ext cx="64373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per_byte = REF_SEC / len(ref_text_proc.encode("utf-8"))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per_byte * len(gen_text.encode("utf-8")) / ____   # 빈칸 8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98080" y="3977640"/>
            <a:ext cx="4142232" cy="109728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35240" y="4050792"/>
            <a:ext cx="3867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8 → speed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5초 ÷ 50 × 100 ÷ 1 = 10초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525780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257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D18-6 F5 길이 · 다듬기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45352" y="525780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82512" y="5257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D18-9 AR vs NAR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같은 조건으로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 · 같은 참고 음성 · 네 가지 지표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방향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시간 ÷ 소리 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작을수록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받아쓰기 vs 원문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작을수록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유사도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임베딩 코사인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1에 가까울수록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WM.get_watermark(y, sample_rate=sr)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생성물이면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371600"/>
            <a:ext cx="3776472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28432" y="1444752"/>
            <a:ext cx="34472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 = perth.PerthImplicitWatermarker()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float(WM.____(y, sample_rate=sr))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빈칸 9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863840" y="2926080"/>
            <a:ext cx="3776472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01000" y="2999232"/>
            <a:ext cx="35021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 → get_watermark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1개 · 씨앗 1개로는 순위를 확정할 수 없다 → 재는 틀을 만든 것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863840" y="4023360"/>
            <a:ext cx="37764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01000" y="4023360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D18-7 모델 비교판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워터마크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들리지 않는 숨은 표시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 점수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Perth 표시 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F5-TTS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없음 (AI 생성이지만)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 (사람)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67912" cy="1737360"/>
          </a:xfrm>
          <a:prstGeom prst="roundRect">
            <a:avLst>
              <a:gd name="adj" fmla="val 421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6992" y="1463040"/>
            <a:ext cx="3538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지폐의 숨은 그림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눈(귀)으로는 안 보이지만 검출기로 비추면 보인다. 없다고 위조가 아닌 것은 아니다.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3337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워터마크는 AI 생성 확인 방법 중 하나일 뿐, 없다 ≠ 사람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오픈소스 표현형 TTS 고르기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→ 언어 → 제어 방식 → 지연 → 안전장치 → 역검증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828800"/>
                <a:gridCol w="1828800"/>
                <a:gridCol w="2011680"/>
                <a:gridCol w="1856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 ML V3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 Turbo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F5-TTS v1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CosyVoice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Kokoro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23개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영어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영 · 중 위주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9개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말투 조절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 · cfg · 참고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 [laugh]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· speed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지시 · 참고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섞기 · speed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대본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CC BY-NC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 (오늘)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환경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상업 서비스 → F5 기본 가중치 · Turbo · Kokoro 제외 → 남는 후보를 내 문장으로 역검증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말투는 조절하고, 조절한 결과는 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142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→ 토큰(25/초) → S3Gen → HiFT → 워터마크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generate(text, language_id="ko")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정규화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모델도 숫자는 앞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normalize_ko(s)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 · CFG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크기 벡터 · 글자 방향 w배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 + w * (cond - uncond)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운율 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반음 폭 · 음절/초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 * log2(f0v / median(f0v))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음성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목소리 · 말투 옮김, conds 되돌리기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audio_prompt_path=ref_path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F5-TTS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채우기, 길이는 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per_byte * bytes / speed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· 워터마크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WER · 유사도 · 워터마크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WM.get_watermark(y, sample_rate=sr)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D19 Voice Cloning &amp; AI 윤리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운율 4요소와 말투 조절 4방식을 구분할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Chatterbox로 한국어를 합성하고 숫자를 정규화했다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exaggeration · CFG를 바꾸며 운율을 숫자로 쟀다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음성으로 말투를 옮기고 조건을 되돌렸다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F5-TTS의 길이 식을 확인했다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조건으로 비교하고 워터마크를 검출했다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D19 Voice Cloning &amp; 윤리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초의 녹음으로 목소리를 복제하는 zero-shot cloning을 직접 해 보고, 딥페이크 · 보이스피싱 위험, 동의 절차 설계, 오늘 본 Perth 워터마크가 압축 · 잡음에 얼마나 버티는지 실험합니다.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D18_표현형TTS_실습.ipynb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D18 표현형 TTS</dc:title>
  <dc:subject>PptxGenJS Presentation</dc:subject>
  <dc:creator>PptxGenJS</dc:creator>
  <cp:lastModifiedBy>PptxGenJS</cp:lastModifiedBy>
  <cp:revision>1</cp:revision>
  <dcterms:created xsi:type="dcterms:W3CDTF">2026-10-26T00:33:04Z</dcterms:created>
  <dcterms:modified xsi:type="dcterms:W3CDTF">2026-10-26T00:33:04Z</dcterms:modified>
</cp:coreProperties>
</file>