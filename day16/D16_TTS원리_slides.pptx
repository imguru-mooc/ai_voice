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4주차 첫날, 방향이 바뀝니다. 지난주 ASR은 소리를 글자로, 이번 주 TTS는 글자를 소리로. 오늘은 TTS를 부품 단위로 열어 보고, 마지막에 앞 처리(정규화 · G2P)가 결과를 얼마나 바꾸는지 ASR 역검증으로 잽니다. 시작할 때 Part 7의 A 원문 / C 정규화+G2P 소리를 들려주세요.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질문에 한 문장씩 답하고, Part 7 평균 CER 표를 제출하면 오늘 목표 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스피커를 준비하세요. 🎧 셀은 반 전체가 같이 들으면 효과가 큽니다. CPU로도 Part 6까지 가능하지만 Part 7은 T4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ASR은 정답이 하나지만 TTS는 일대다입니다. 같은 문장을 학생 몇 명에게 읽게 해 빠르기 · 억양이 다른 것을 들려주면 duration · noise가 왜 필요한지 쉽게 이해합니다.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 전체 퀴즈: 3시 15분, 3개, 20명, 6월, 010을 소리 내어 읽게 하세요. 세 시 십오 분, 세 개, 스무 명, 유월, 공일공.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십 · 백 · 천 자리의 1은 생략(십오, 백일), 10000은 만. 고유어 관형사형: 하나 → 한, 둘 → 두, 셋 → 세, 넷 → 네, 스물 → 스무.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이름 첫 글자를 D16-3에 넣어 보게 하세요. 초성이 하나 바뀌면 588칸 건너뜁니다.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연음 함수로 같이 → 가티가 나오는 것을 먼저 보여 주고, 왜 틀렸는지 묻습니다(구개음화). 규칙이 많고 순서 · 조건이 있어 g2pk2를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G2P 표의 두 열(원문 · 정규화)을 비교하게 하세요. 정규화기를 먼저 거치는 이유를 학생이 직접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kHz · hop 256이면 1초 = 62.5 프레임. 3초 문장이면 약 190장. 글자 하나가 여러 프레임에 대응하므로 길이를 정해야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모음만 늘리면 또박또박, rate로 전체를 나누면 빨라지거나 느려집니다. Part 6에서 VITS의 진짜 duration을 꺼내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Griffin-Lim → HiFi-GAN → 원본 순서로 스피커로 들려주세요. 로봇 같다, 웅웅거린다는 반응이 나오면 성공입니다.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4의 librosa mel을 넣으면 지글거립니다. Vocoder는 자기가 학습한 mel 설정과 같은 mel만 제대로 읽습니다. 프레임 2배 반복 실험으로 음높이는 그대로 길이만 늘어나는 것을 들려주세요.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mms-tts-kor는 CC BY-NC 4.0(비상업)입니다. 수업 · 연구는 가능하지만 최종 프로젝트가 상업 목적이면 다른 모델이 필요하다고 미리 말해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uroman은 글자를 옮길 뿐 발음 규칙과 숫자 읽기를 모릅니다. 기호 목록에 없는 문자는 토크나이저가 조용히 지웁니다.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 합 × hop이 파형 길이와 정확히 같은 것을 확인하게 하세요. VITS 안에서도 length regulator가 일어난다는 증거입니다.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양쪽에 같은 normalize_ko를 적용하는 것이 핵심입니다. Whisper가 3시로 받아써도 세 시와 같게 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D15 LoRA로 역검증하면 도메인 용어는 정확히 잴 수 있지만, 그 모델이 gTTS로 학습해 합성음에 유리할 수 있다는 점을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한 줄: 정규화 · G2P가 알아듣기 쉬움을 크게 바꾸고, 길이(duration)와 Vocoder가 자연스러움을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세 가지를 안내하고 워크시트 4교시까지 채점 → 노션 제출. Part 7 평균 CER 표를 함께 붙이게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6/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6/animation.html#norm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6/animation.html#hangul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6/animation.html#g2p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6/animation.html#mel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6/animation.html#duration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6/animation.html#vocoder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6/animation.html#vits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6/animation.html#backcheck" TargetMode="Externa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6/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원리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글자가 소리가 되기까지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정규화 → G2P(g2pk2) → Acoustic Model(mel · duration) → Vocoder(Griffin-Lim · HiFi-GAN) → VITS → ASR 역검증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4주차 M4 · 4시간 · T4 GPU 권장 · 실습 노트북 Part 0 ~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원문    가격은 12,500원입니다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정규화  가격은 만이천오백원입니다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G2P     가겨근 마니처노배궈님니다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uroman  gagyeogeun manicheonobaegwonimnida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VITS → 파형 16 kHz → Whisper 받아쓰기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평균 CER   A 원문 …  B G2P …  C 정규화+G2P 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모양 예시 · 숫자는 각자 실행 결과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글자는 어떻게 소리가 될까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4630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TTS는 어떤 단계로 글자를 소리로 바꾸나?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80015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1762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1762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"3시 15분"은 어떻게 읽게 하나?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180015" y="21762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8950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8895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28895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쓴 글자와 소리가 다른 한국어를 어떻게 다루나?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80015" y="28895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60273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6027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6027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기호 수십 개를 프레임 수백 개로 어떻게 늘이나?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180015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31596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315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3159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소리의 그림(mel)을 어떻게 진짜 소리로 바꾸나?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180015" y="4315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029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88720" y="5029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VITS 안에서는 무슨 일이, 앞 처리는 얼마나 도움이 되나?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0180015" y="5029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 ~ 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하나씩 → 마지막에 귀와 숫자로 확인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pic>
        <p:nvPicPr>
          <p:cNvPr id="6" name="Image 0" descr="/home/claude/d16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74" y="1325880"/>
            <a:ext cx="10093546" cy="29260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  <a:gridCol w="3227832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TTS 큰 그림, 한국어 텍스트 정규화 (한자어 · 고유어 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2 · 빈칸 1 ·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한글 자모 분해, 연음 규칙, g2pk2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· 빈칸 3 · 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mel · duration (length regulator), Griffin-Lim vs HiFi-GAN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~ 5 · 빈칸 5 ~ 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VITS 해부, ASR 역검증 (A · B · C),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8 · 빈칸 8 · 9 · 노션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D16-1 오늘의 흐름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TTS 파이프라인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→ G2P → Acoustic Model → Vocoder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pic>
        <p:nvPicPr>
          <p:cNvPr id="6" name="Image 0" descr="/home/claude/d16/build/fig_dark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293" y="1325880"/>
            <a:ext cx="9547109" cy="320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709160"/>
            <a:ext cx="6766560" cy="1143000"/>
          </a:xfrm>
          <a:prstGeom prst="roundRect">
            <a:avLst>
              <a:gd name="adj" fmla="val 64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800600"/>
            <a:ext cx="6437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악보를 연주하기까지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가사 다듬기(정규화) → 발음 표기(G2P) → 작곡가가 악보(mel) → 연주자가 연주(Vocoder). VITS는 작곡가 겸 연주자.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589520" y="470916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일대다: 같은 문장 · 여러 정답 소리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텍스트 정규화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숫자를 읽을 줄 모른다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pic>
        <p:nvPicPr>
          <p:cNvPr id="6" name="Image 0" descr="/home/claude/d16/build/fig_dark/n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004" y="1325880"/>
            <a:ext cx="9361688" cy="292608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1945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한자어 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2026년 · 15분 · 12,500원 · 25%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 · 분 · 돈 · 단위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고유어 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3시 · 3개 · 20명(스무 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 · 개수 단위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유월 · 시월 · 공일공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680960" y="4434840"/>
            <a:ext cx="39593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18120" y="443484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D16-2 정규화 실험실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숫자 읽기 함수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자리씩 끊어 읽고, 단위 앞 고유어는 모양이 바뀐다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2743200"/>
          </a:xfrm>
          <a:prstGeom prst="roundRect">
            <a:avLst>
              <a:gd name="adj" fmla="val 2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sino(n):   # 12500 → 만이천오백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big in ["", "만", "억", "조"]: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 = ("" if d == 1 and i &gt; 0 else ____[d]) + unit + s   # 빈칸 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read_count(n, unit):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(native(n) if unit in ____ else sino(n)) + " " + unit   # 빈칸 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0" y="1371600"/>
            <a:ext cx="4142232" cy="1280160"/>
          </a:xfrm>
          <a:prstGeom prst="roundRect">
            <a:avLst>
              <a:gd name="adj" fmla="val 4286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444752"/>
            <a:ext cx="38679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·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1 → DIGITS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2 → NATIVE_COUNTERS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880360"/>
          <a:ext cx="41422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3911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sino(12500)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만이천오백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read_count(3, "시")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read_count(20, "명")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스무 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한글 자모 분해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음절 = 0xAC00 + (초성 × 21 + 중성) × 28 + 종성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pic>
        <p:nvPicPr>
          <p:cNvPr id="6" name="Image 0" descr="/home/claude/d16/build/fig_dark/hang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74" y="1325880"/>
            <a:ext cx="10093546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43484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507992"/>
            <a:ext cx="5212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 · 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CHO[code // ____]  → 588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연음: b[0] == ____  → "ㅇ" (밥을 → 바블)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309360" y="4434840"/>
            <a:ext cx="53309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4434840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D16-3 한글 분해 계산기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G2P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쓴 글자와 소리가 다르다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pic>
        <p:nvPicPr>
          <p:cNvPr id="6" name="Image 0" descr="/home/claude/d16/build/fig_dark/g2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46" y="1325880"/>
            <a:ext cx="9837202" cy="292608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23774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만든 연음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g2pk2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갑시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갑씨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가티 ✗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궁물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680960" y="4434840"/>
            <a:ext cx="39593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18120" y="443484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D16-4 발음 규칙 탐색기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g2pk2와 정규화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G2P도 숫자를 일부 읽지만, 틀리는 곳이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2336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g2p(원문)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g2p(정규화)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우유 2병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우유 이병 ✗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우유 두 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010-1234-5678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영이령-이리삼사-… ✗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공일공 이리삼사 …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2.5km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이.오km ✗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이점오 킬로미터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음성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 음성 (영어 사전)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에이아이 음성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3시 15분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세시 시보분 ✓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시 시보분 ✓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069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정규화(읽는 말로) → G2P(소리 나는 대로) 순서로 붙인다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Acoustic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기호 수십 개 → 프레임 수백 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pic>
        <p:nvPicPr>
          <p:cNvPr id="6" name="Image 0" descr="/home/claude/d16/build/fig_dark/acous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2642" y="1325880"/>
            <a:ext cx="9426412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599432"/>
            <a:ext cx="5212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n_frames = 1 + len(y_real) // ____  → HOP (256)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309360" y="4526280"/>
            <a:ext cx="53309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4526280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D16-5 mel 만들기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Length Regulator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기호마다 프레임 수만큼 복사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pic>
        <p:nvPicPr>
          <p:cNvPr id="6" name="Image 0" descr="/home/claude/d16/build/fig_dark/d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339" y="1325880"/>
            <a:ext cx="9923017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20624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279392"/>
            <a:ext cx="5212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frames = np.repeat(enc, ____, axis=0)  → durations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309360" y="4206240"/>
            <a:ext cx="53309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4206240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D16-6 길이 조절기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FastSpeech 2는 pitch · energy도 따로 예측 → 억양 · 강세 조절 (D18 감정 제어로 이어짐)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Vocoder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mel에는 위상이 없다 → Vocoder가 채운다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pic>
        <p:nvPicPr>
          <p:cNvPr id="6" name="Image 0" descr="/home/claude/d16/build/fig_dark/voco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27" y="1325880"/>
            <a:ext cx="9654241" cy="301752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6949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182880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Griffin-Lim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WaveNet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HiFi-GAN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위상 추정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자기회귀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업샘플 + GAN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금속성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좋음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좋음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속도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느림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빠름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680960" y="4526280"/>
            <a:ext cx="39593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18120" y="452628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D16-7 Vocoder 비교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HiFi-GAN copy synthesis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녹음의 mel → HiFi-GAN → 소리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2377440"/>
          </a:xfrm>
          <a:prstGeom prst="roundRect">
            <a:avLst>
              <a:gd name="adj" fmla="val 230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 = SpeechT5FeatureExtractor.from_pretrained("microsoft/speecht5_tts")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vocoder = SpeechT5HifiGan.from_pretrained("microsoft/speecht5_hifigan")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mel_t5 = fe(audio_target=y_real, sampling_rate=SR, return_tensors="pt")["input_values"][0]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hop_v = int(np.prod(vocoder.config.____))   # 빈칸 7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y_hifi = vocoder(mel_t5)   # 길이 = 프레임 × 256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1371600"/>
            <a:ext cx="3959352" cy="109728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444752"/>
            <a:ext cx="36850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upsample_rates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(4, 4, 4, 4) → 곱 256 = hop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977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업샘플 배수의 곱 = hop  ·  Vocoder는 같은 mel 설정만 제대로 읽는다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4434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Vocoder로 비교해야 Acoustic Model 비교가 공정하다 (D14 같은 시험지)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VITS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 Encoder + Duration + Flow + HiFi-GAN 한 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pic>
        <p:nvPicPr>
          <p:cNvPr id="6" name="Image 0" descr="/home/claude/d16/build/fig_dark/v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772" y="1325880"/>
            <a:ext cx="9488152" cy="3108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617720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617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D16-8 VITS 해부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754880" y="4617720"/>
            <a:ext cx="688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mms-tts-kor: 약 3,600만 파라미터 · 16 kHz · 로마자 입력 · CC BY-NC 4.0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uroman과 입력 세 방식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→ 로마자, 그 전에 무엇을 하나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1463040"/>
                <a:gridCol w="45079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"같이"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"오후 3시"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원문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uroman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gati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ohu 3si (숫자 남음 → 지워질 수 있음)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G2P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g2pk2 → uroman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gaci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ohu sesi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정규화 + G2P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normalize_ko → g2pk2 → uroman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gaci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ohu se si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33756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3410712"/>
            <a:ext cx="5212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U.____(text)  → romanize_string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309360" y="352044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사이사이 blank(0번) → 입력 길이 약 2배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VITS의 duration 꺼내기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frames = ceil(exp(log duration) ÷ speaking_rate)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1828800"/>
          </a:xfrm>
          <a:prstGeom prst="roundRect">
            <a:avLst>
              <a:gd name="adj" fmla="val 3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 = tts.duration_predictor.register_forward_hook(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mod, inp, out: CAP.__setitem__("log_dur", out))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 = torch.ceil(torch.exp(____) / 1.0)[0, 0]   # 빈칸 9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int(dur.sum()) * HOP_V == len(wav)   # True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0" y="1371600"/>
            <a:ext cx="3959352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444752"/>
            <a:ext cx="36850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CAP["log_dur"]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손잡이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speaking_rate 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빠르고 짧게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noise_scale = 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단조롭고 평평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noise_scale 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변화 크고 불안정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set_seed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결과 재현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 · ASR 역검증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TTS가 말한 것을 Whisper가 받아쓰게 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pic>
        <p:nvPicPr>
          <p:cNvPr id="6" name="Image 0" descr="/home/claude/d16/build/fig_dark/back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74" y="1325880"/>
            <a:ext cx="10093546" cy="292608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926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평균 CER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원문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· 기호 누락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G2P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발음 반영 · 숫자 일부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정규화 + G2P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낮음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· 단위 · 약어까지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680960" y="4434840"/>
            <a:ext cx="39593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18120" y="443484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D16-9 ASR 역검증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7.2 · 역검증의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알아듣기 쉬움 ≠ 자연스러움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7764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잴 수 있는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잴 수 없는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또박또박 말했나 (CER)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억양 · 감정 · 듣기 좋음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평가 MOS · 자동 UTMOS (D20)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· 용어를 빠뜨렸나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ASR 자체 오류와 섞임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ASR · 사람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 간 차이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12문장은 적음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부트스트랩 (D14) · 문장 늘리기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오늘 배운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품질의 절반은 모델 앞에서 결정된다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120640"/>
                <a:gridCol w="3776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· 단위 · 약어를 읽는 말로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normalize_ko()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자모 · G2P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588 · 28 계산, 연음 · 경음화 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decompose(), G2p()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mel · duration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 = 샘플 ÷ hop, 기호별 길이 복사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np.repeat(enc, durations)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Vocoder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위상 채우기, 업샘플 곱 = hop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SpeechT5HifiGan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VITS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인코더 + duration + flow + HiFi-GAN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VitsModel, speaking_rate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역검증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받아써서 CER, 같은 정규화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jiwer.cer(for_cer(...))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D17 경량 TTS: Kokoro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4단계와 End-to-end를 설명할 수 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한자어 · 고유어로 읽는 정규화기를 만들었다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자모 분해와 연음을 구현하고 g2pk2와 비교했다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mel 프레임 · duration · length regulator를 계산했다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Griffin-Lim과 HiFi-GAN을 들어 비교했다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VITS로 합성하고 ASR 역검증으로 A · B · C를 비교했다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D17 Kokoro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8,200만 파라미터의 가벼운 TTS로 CPU에서도 실시간 합성. 설치 · 추론 · 음성 스타일 선택, 그리고 오늘 배운 음소 입력 · duration · Vocoder가 Kokoro 안에서 어떻게 쓰이는지 찾아봅니다.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D16_TTS원리_실습.ipynb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 · T4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imguru-mooc.github.io/AI_Voice/day16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D16 TTS 원리</dc:title>
  <dc:subject>PptxGenJS Presentation</dc:subject>
  <dc:creator>PptxGenJS</dc:creator>
  <cp:lastModifiedBy>PptxGenJS</cp:lastModifiedBy>
  <cp:revision>1</cp:revision>
  <dcterms:created xsi:type="dcterms:W3CDTF">2026-10-23T03:21:35Z</dcterms:created>
  <dcterms:modified xsi:type="dcterms:W3CDTF">2026-10-23T03:21:35Z</dcterms:modified>
</cp:coreProperties>
</file>