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charts/chart1.xml" ContentType="application/vnd.openxmlformats-officedocument.drawingml.chart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</p:sldIdLst>
  <p:notesMasterIdLst>
    <p:notesMasterId r:id="rId2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크기 (KB)</c:v>
                </c:pt>
              </c:strCache>
            </c:strRef>
          </c:tx>
          <c:spPr>
            <a:solidFill>
              <a:srgbClr val="4FD1B5"/>
            </a:solidFill>
            <a:effectLst/>
          </c:spPr>
          <c:invertIfNegative val="0"/>
          <c:dLbls>
            <c:numFmt formatCode="0.0&quot; KB&quot;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E6EAF2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4FD1B5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B39DF5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F2B33D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F06FA6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WAV</c:v>
                  </c:pt>
                  <c:pt idx="1">
                    <c:v>FLAC</c:v>
                  </c:pt>
                  <c:pt idx="2">
                    <c:v>MP3 64k</c:v>
                  </c:pt>
                  <c:pt idx="3">
                    <c:v>Opus 24k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187.5</c:v>
                </c:pt>
                <c:pt idx="1">
                  <c:v>53.9</c:v>
                </c:pt>
                <c:pt idx="2">
                  <c:v>47.9</c:v>
                </c:pt>
                <c:pt idx="3">
                  <c:v>20.4</c:v>
                </c:pt>
              </c:numCache>
            </c:numRef>
          </c:val>
        </c:ser>
        <c:dLbls>
          <c:numFmt formatCode="0.0&quot; KB&quot;" sourceLinked="0"/>
          <c:txPr>
            <a:bodyPr/>
            <a:lstStyle/>
            <a:p>
              <a:pPr>
                <a:defRPr b="0" i="0" strike="noStrike" sz="1200" u="none">
                  <a:solidFill>
                    <a:srgbClr val="E6EAF2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300" b="0" i="0" u="none" strike="noStrike">
                <a:solidFill>
                  <a:srgbClr val="E6EAF2"/>
                </a:solidFill>
                <a:latin typeface="Consolas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11151C"/>
        </a:solidFill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Day 2입니다. 어제는 음성 AI 전체를 맛봤고, 오늘은 그 출발점인 디지털 오디오를 다룹니다. 소리가 숫자가 되는 과정, 그 숫자를 저장하는 포맷, 그리고 다루는 도구를 배우고, 마지막에 어떤 파일이든 음성 모델용 16kHz mono WAV로 바꾸는 전처리기를 만듭니다. 오른쪽은 오늘 마지막에 보게 될 출력의 예시입니다. 오늘은 소리를 듣는 실습이 많으니 이어폰을 준비시키세요.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D1에서 아무 설명 없이 16kHz mono WAV로 바꿨습니다. 오늘은 그 이유를 하나씩 답합니다. 수강생에게 지금 아는 만큼 답을 적게 하고 수업 끝에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노트북은 Part 1부터 6까지 순서대로 진행합니다. 오늘은 GPU가 필요 없고 기본 CPU 런타임으로 충분합니다. 빈칸 실습은 7개입니다.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마이크는 공기의 떨림을 전기 신호로 바꾸고, ADC가 일정한 간격으로 측정(샘플링)해서 크기를 숫자로 적습니다(양자화). 그래서 컴퓨터 안의 소리는 결국 숫자 배열입니다. 오늘 Part 2와 3이 각각 샘플링과 양자화입니다.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Part 1입니다. tone() 함수는 사인파로 순수한 소리를 만듭니다. 220, 440, 880 Hz를 차례로 들려주고, 진폭만 바꿔 크기 차이도 들려주세요. IPython Audio는 기본으로 소리 크기를 자동으로 맞추므로 크기 비교에는 normalize=False를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샘플링 레이트는 1초에 소리를 몇 번 측정하는지입니다. 많이 측정할수록 원래 모양에 가깝지만 데이터도 많아집니다. 표의 용도를 짚어 주고, 음성 AI는 16,000 Hz를 쓴다는 점을 강조하세요.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샘플링 레이트의 절반보다 높은 소리는 담을 수 없습니다. 16,000 Hz면 8,000 Hz까지입니다. 사람 말소리의 중요한 정보는 대부분 그보다 낮아서 음성 AI는 16,000 Hz로 충분합니다. 음악은 높은 소리까지 필요해서 44,100 Hz를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Part 2-1입니다. 200 Hz에서 7,000 Hz로 올라가는 소리를 11,025 Hz로 줄입니다. 숫자를 건너뛰면 절반 높이인 약 5,500 Hz를 넘는 순간 소리가 꺾여 내려가는 가짜 소리가 생깁니다. resample은 담을 수 없는 높은 소리를 먼저 지워서 조용해질 뿐입니다. 세 소리를 꼭 들려주세요.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샘플링 레이트를 바꾸는 바른 방법은 세 가지입니다. 실무에서는 불러오면서 바꾸는 librosa.load(sr=16000)를 가장 많이 씁니다. 숫자만 바꿔 저장하면 소리가 느려지고 낮아지는 실수가 흔하니 꼭 짚어 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비트 깊이는 측정한 크기를 몇 단계로 적는지입니다. 단계가 적으면 계단처럼 거칠어지고 지지직 잡음이 생깁니다. 노트북에서 16, 8, 4, 2bit 소리를 차례로 들려주세요. librosa로 불러온 배열은 32bit 소수(float32)입니다.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파일로 저장할 때 subtype으로 비트 깊이를 정합니다. 같은 소리라도 비트 깊이가 클수록 파일이 커집니다. 음성 데이터는 PCM_16이 표준입니다.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음성 모델은 mono를 씁니다. 함정은 모양입니다. librosa는 (채널, 샘플), soundfile은 (샘플, 채널) 순서라서 librosa 배열을 soundfile로 저장할 때 .T로 뒤집어야 합니다. 이어폰으로 왼쪽, 오른쪽 소리를 들려주세요.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WAV와 FLAC은 원래 숫자를 그대로 보존하는 무손실, MP3와 Opus는 사람이 잘 못 듣는 소리를 버려 크기를 줄이는 손실 포맷입니다. 모델 학습과 입력에는 WAV나 FLAC, 사람에게 들려줄 때는 MP3나 Opus를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Part 5의 비교 결과입니다. FLAC은 WAV의 약 3분의 1인데도 원래 숫자와의 차이가 0입니다. MP3와 Opus는 더 작지만 숫자가 조금씩 바뀝니다. 그런데 귀로는 차이가 거의 안 들립니다. 수치는 음성에 따라 달라집니다.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WAV는 압축이 없어서 크기를 정확히 계산할 수 있습니다. 1초당 샘플 수, 샘플 하나의 바이트 수, 채널 수, 길이를 곱하면 됩니다. 실제 파일은 44바이트 헤더가 더 붙습니다. 애니메이션의 포맷 계산기로 1시간 음성 데이터가 얼마나 큰지 보여주세요.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쓴 네 도구의 역할을 정리합니다. 파일 정보와 읽기 쓰기는 soundfile, 분석과 변환은 librosa, 편집은 pydub, 형식 변환은 ffmpeg입니다. 애니메이션의 도구 고르기 탭으로 상황 8개를 함께 풀어 보세요.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Part 6-1입니다. pydub은 리스트처럼 잘라 쓰고, 더하기로 볼륨과 이어 붙이기를 합니다. 시간 단위가 밀리초라는 점이 가장 흔한 실수 포인트입니다. Python 3.13에서는 audioop-lts를 함께 설치해야 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배운 것을 모두 합친 make_model_ready() 함수입니다. 불러오면서 16kHz mono로 바꾸고, 묵음을 자르고, 볼륨을 맞춘 뒤, 16bit WAV로 저장합니다. D3부터 이 함수를 계속 씁니다.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전처리기의 핵심은 어떤 입력이 와도 결과가 똑같은 형식이라는 점입니다. 44.1kHz stereo도, mp3도, FLAC도 모두 16000 Hz, 1채널, PCM_16이 됩니다. 이것이 모든 음성 모델 파이프라인의 첫 단계입니다.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실습에서 흔히 만나는 문제들입니다. 특히 Colab의 Python 3.13에서는 pydub이 audioop 모듈을 찾지 못하는 문제가 있어 설치 셀에 audioop-lts를 넣어 두었습니다.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노트북 각 Part의 수식으로 보기 절을 한 장으로 모았습니다. 노트북의 수식 검증 셀에서 예측값과 측정값이 맞는 것을 함께 확인하세요. 예를 들어 7,000 Hz를 11,025 Hz로 건너뛰면 예측대로 4,025 Hz로 접히고, 16bit 양자화 SNR은 측정과 이론 모두 약 98 dB입니다.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오늘 체크리스트를 함께 확인합니다. worksheet.html은 교시마다 해당 탭을 풀고, 4교시까지 채점한 뒤 제출 버튼의 캡처 기능으로 오답 정리를 복사해 노션에 붙여 넣게 합니다. 다음 시간에는 오늘 잠깐 본 스펙트로그램을 STFT로 직접 만들어 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02/animation.html#flow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02/animation.html#sound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02/animation.html#sampling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02/animation.html#quan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02/animation.html#channel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02/animation.html#format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02/animation.html#libs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02/animation.html#editor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02/animation.html#pipeline" TargetMode="Externa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hyperlink" Target="https://imguru-mooc.github.io/AI_Voice/day02/worksheet.html" TargetMode="External"/><Relationship Id="rId2" Type="http://schemas.openxmlformats.org/officeDocument/2006/relationships/hyperlink" Target="https://imguru-mooc.github.io/AI_Voice/day02/animation.html" TargetMode="External"/><Relationship Id="rId3" Type="http://schemas.openxmlformats.org/officeDocument/2006/relationships/hyperlink" Target="https://imguru-mooc.github.io/AI_Voice/day02/animation.html" TargetMode="External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8686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 / 40</a:t>
            </a:r>
            <a:endParaRPr lang="en-US" sz="14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64008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Day 02</a:t>
            </a:r>
            <a:endParaRPr lang="en-US" sz="60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51460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디지털 오디오 기초</a:t>
            </a:r>
            <a:endParaRPr lang="en-US" sz="3000" dirty="0"/>
          </a:p>
          <a:p>
            <a:pPr indent="0" marL="0">
              <a:buNone/>
            </a:pPr>
            <a:r>
              <a:rPr lang="en-US" sz="30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소리는 어떻게 숫자가 될까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4805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Sampling → Quantization → Format → Preprocess</a:t>
            </a:r>
            <a:endParaRPr lang="en-US" sz="1500" dirty="0"/>
          </a:p>
          <a:p>
            <a:pPr indent="0" marL="0">
              <a:buNone/>
            </a:pPr>
            <a:r>
              <a:rPr lang="en-US" sz="15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4시간 · Colab CPU · 실습 노트북 Part 1 ~ 6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629400" y="1371600"/>
            <a:ext cx="4983480" cy="3291840"/>
          </a:xfrm>
          <a:prstGeom prst="roundRect">
            <a:avLst>
              <a:gd name="adj" fmla="val 2222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858000" y="1554480"/>
            <a:ext cx="452628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&gt;&gt;&gt; make_model_ready(src)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[전] speech_hq.wav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44100 Hz | 2ch | PCM_16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6.00초 | 1033.7 KB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[후] ready.wav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16000 Hz | 1ch | PCM_16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5.92초 |  185.0 KB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629400" y="4709160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예시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 · 오늘 답할 질문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어제 쓴 16kHz WAV, 정확히 무엇이었을까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691640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1691640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컴퓨터 안의 소리는 결국 무엇일까?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9631375" y="169164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404872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77240" y="2404872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1280160" y="2404872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AI는 왜 16,000 Hz면 충분할까?</a:t>
            </a:r>
            <a:endParaRPr lang="en-US" sz="1500" dirty="0"/>
          </a:p>
        </p:txBody>
      </p:sp>
      <p:sp>
        <p:nvSpPr>
          <p:cNvPr id="13" name="Text 10"/>
          <p:cNvSpPr txBox="1"/>
          <p:nvPr/>
        </p:nvSpPr>
        <p:spPr>
          <a:xfrm>
            <a:off x="9631375" y="240487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1200" dirty="0"/>
          </a:p>
        </p:txBody>
      </p:sp>
      <p:sp>
        <p:nvSpPr>
          <p:cNvPr id="14" name="Shape 11"/>
          <p:cNvSpPr/>
          <p:nvPr/>
        </p:nvSpPr>
        <p:spPr>
          <a:xfrm>
            <a:off x="548640" y="3118104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777240" y="3118104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3"/>
          <p:cNvSpPr txBox="1"/>
          <p:nvPr/>
        </p:nvSpPr>
        <p:spPr>
          <a:xfrm>
            <a:off x="1280160" y="3118104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샘플링 레이트를 함부로 줄이면 무슨 일이 생길까?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631375" y="311810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2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548640" y="3831336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77240" y="3831336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</a:t>
            </a:r>
            <a:endParaRPr lang="en-US" sz="1600" dirty="0"/>
          </a:p>
        </p:txBody>
      </p:sp>
      <p:sp>
        <p:nvSpPr>
          <p:cNvPr id="20" name="Text 17"/>
          <p:cNvSpPr txBox="1"/>
          <p:nvPr/>
        </p:nvSpPr>
        <p:spPr>
          <a:xfrm>
            <a:off x="1280160" y="3831336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16bit는 무슨 뜻이고, 왜 가장 흔할까?</a:t>
            </a:r>
            <a:endParaRPr lang="en-US" sz="1500" dirty="0"/>
          </a:p>
        </p:txBody>
      </p:sp>
      <p:sp>
        <p:nvSpPr>
          <p:cNvPr id="21" name="Text 18"/>
          <p:cNvSpPr txBox="1"/>
          <p:nvPr/>
        </p:nvSpPr>
        <p:spPr>
          <a:xfrm>
            <a:off x="9631375" y="383133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3</a:t>
            </a:r>
            <a:endParaRPr lang="en-US" sz="1200" dirty="0"/>
          </a:p>
        </p:txBody>
      </p:sp>
      <p:sp>
        <p:nvSpPr>
          <p:cNvPr id="22" name="Shape 19"/>
          <p:cNvSpPr/>
          <p:nvPr/>
        </p:nvSpPr>
        <p:spPr>
          <a:xfrm>
            <a:off x="548640" y="4544568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77240" y="4544568"/>
            <a:ext cx="365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</a:t>
            </a:r>
            <a:endParaRPr lang="en-US" sz="1600" dirty="0"/>
          </a:p>
        </p:txBody>
      </p:sp>
      <p:sp>
        <p:nvSpPr>
          <p:cNvPr id="24" name="Text 21"/>
          <p:cNvSpPr txBox="1"/>
          <p:nvPr/>
        </p:nvSpPr>
        <p:spPr>
          <a:xfrm>
            <a:off x="1280160" y="4544568"/>
            <a:ext cx="8778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FLAC은 작아졌는데 왜 원본과 숫자가 똑같을까?</a:t>
            </a:r>
            <a:endParaRPr lang="en-US" sz="1500" dirty="0"/>
          </a:p>
        </p:txBody>
      </p:sp>
      <p:sp>
        <p:nvSpPr>
          <p:cNvPr id="25" name="Text 22"/>
          <p:cNvSpPr txBox="1"/>
          <p:nvPr/>
        </p:nvSpPr>
        <p:spPr>
          <a:xfrm>
            <a:off x="9631375" y="454456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Part 5</a:t>
            </a:r>
            <a:endParaRPr lang="en-US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548640" y="53492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수업이 끝나면 다섯 질문 모두에 한 문장으로 답할 수 있어야 한다.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2.0 · 오늘의 흐름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소리에서 숫자, 숫자에서 파일, 파일에서 모델 입력까지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163570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9AA4B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737360"/>
            <a:ext cx="15442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1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소리의 정체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184349" y="173736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440381" y="1737360"/>
            <a:ext cx="163570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4FD1B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486101" y="1737360"/>
            <a:ext cx="15442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2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샘플링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076090" y="173736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4332122" y="1737360"/>
            <a:ext cx="163570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B39DF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4377842" y="1737360"/>
            <a:ext cx="15442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3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양자화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967832" y="173736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6223864" y="1737360"/>
            <a:ext cx="163570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6269584" y="1737360"/>
            <a:ext cx="15442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4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7859573" y="173736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8115605" y="1737360"/>
            <a:ext cx="163570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F06FA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161325" y="1737360"/>
            <a:ext cx="15442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5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파일 포맷</a:t>
            </a:r>
            <a:endParaRPr lang="en-US" sz="1500" dirty="0"/>
          </a:p>
        </p:txBody>
      </p:sp>
      <p:sp>
        <p:nvSpPr>
          <p:cNvPr id="20" name="Text 17"/>
          <p:cNvSpPr txBox="1"/>
          <p:nvPr/>
        </p:nvSpPr>
        <p:spPr>
          <a:xfrm>
            <a:off x="9751314" y="1737360"/>
            <a:ext cx="25603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21" name="Shape 18"/>
          <p:cNvSpPr/>
          <p:nvPr/>
        </p:nvSpPr>
        <p:spPr>
          <a:xfrm>
            <a:off x="10007346" y="1737360"/>
            <a:ext cx="1635709" cy="914400"/>
          </a:xfrm>
          <a:prstGeom prst="roundRect">
            <a:avLst>
              <a:gd name="adj" fmla="val 8000"/>
            </a:avLst>
          </a:prstGeom>
          <a:solidFill>
            <a:srgbClr val="161D29"/>
          </a:solidFill>
          <a:ln w="19050">
            <a:solidFill>
              <a:srgbClr val="5CC8E0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053066" y="1737360"/>
            <a:ext cx="1544269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Part 6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 · 전처리기</a:t>
            </a:r>
            <a:endParaRPr lang="en-US" sz="15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971800"/>
          <a:ext cx="11094415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5852160"/>
                <a:gridCol w="359359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내용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실습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1교시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소리의 정체, 샘플링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1 ~ 2 · 빈칸 1, 2 · 워크시트 1교시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2교시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양자화, 채널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3 ~ 4 · 빈칸 3, 4 · 워크시트 2교시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3교시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포맷 비교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5 · 빈칸 5 · 워크시트 3교시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4교시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pydub 편집, 전처리기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Part 6 ~ 7 · 빈칸 6, 7 · 워크시트 4교시 · 노션 제출</a:t>
                      </a:r>
                      <a:endParaRPr lang="en-US" sz="13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</a:tbl>
          </a:graphicData>
        </a:graphic>
      </p:graphicFrame>
      <p:sp>
        <p:nvSpPr>
          <p:cNvPr id="24" name="Shape 20"/>
          <p:cNvSpPr/>
          <p:nvPr/>
        </p:nvSpPr>
        <p:spPr>
          <a:xfrm>
            <a:off x="548640" y="5440680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25" name="Text 21"/>
          <p:cNvSpPr txBox="1"/>
          <p:nvPr/>
        </p:nvSpPr>
        <p:spPr>
          <a:xfrm>
            <a:off x="731520" y="544068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D2-1 오늘의 흐름 (Part 1 ~ 6)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 · 소리의 정체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공기의 떨림이 숫자 배열이 되기까지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83080"/>
            <a:ext cx="1984797" cy="1051560"/>
          </a:xfrm>
          <a:prstGeom prst="roundRect">
            <a:avLst>
              <a:gd name="adj" fmla="val 6957"/>
            </a:avLst>
          </a:prstGeom>
          <a:solidFill>
            <a:srgbClr val="161D29"/>
          </a:solidFill>
          <a:ln w="19050">
            <a:solidFill>
              <a:srgbClr val="E6EAF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783080"/>
            <a:ext cx="189335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공기의 떨림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533437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826045" y="1783080"/>
            <a:ext cx="1984797" cy="1051560"/>
          </a:xfrm>
          <a:prstGeom prst="roundRect">
            <a:avLst>
              <a:gd name="adj" fmla="val 6957"/>
            </a:avLst>
          </a:prstGeom>
          <a:solidFill>
            <a:srgbClr val="161D29"/>
          </a:solidFill>
          <a:ln w="19050">
            <a:solidFill>
              <a:srgbClr val="9AA4B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871765" y="1783080"/>
            <a:ext cx="189335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마이크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전기 신호로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810841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103449" y="1783080"/>
            <a:ext cx="1984797" cy="1051560"/>
          </a:xfrm>
          <a:prstGeom prst="roundRect">
            <a:avLst>
              <a:gd name="adj" fmla="val 6957"/>
            </a:avLst>
          </a:prstGeom>
          <a:solidFill>
            <a:srgbClr val="161D29"/>
          </a:solidFill>
          <a:ln w="19050">
            <a:solidFill>
              <a:srgbClr val="4FD1B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149169" y="1783080"/>
            <a:ext cx="189335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샘플링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시간을 쪼개기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088246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7380854" y="1783080"/>
            <a:ext cx="1984797" cy="1051560"/>
          </a:xfrm>
          <a:prstGeom prst="roundRect">
            <a:avLst>
              <a:gd name="adj" fmla="val 6957"/>
            </a:avLst>
          </a:prstGeom>
          <a:solidFill>
            <a:srgbClr val="161D29"/>
          </a:solidFill>
          <a:ln w="19050">
            <a:solidFill>
              <a:srgbClr val="B39D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26574" y="1783080"/>
            <a:ext cx="189335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양자화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크기를 숫자로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365651" y="1783080"/>
            <a:ext cx="29260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9658259" y="1783080"/>
            <a:ext cx="1984797" cy="1051560"/>
          </a:xfrm>
          <a:prstGeom prst="roundRect">
            <a:avLst>
              <a:gd name="adj" fmla="val 6957"/>
            </a:avLst>
          </a:prstGeom>
          <a:solidFill>
            <a:srgbClr val="161D29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703979" y="1783080"/>
            <a:ext cx="189335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배열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[0.01, 0.12, ...]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4846320" y="1600200"/>
            <a:ext cx="4526280" cy="1417320"/>
          </a:xfrm>
          <a:prstGeom prst="roundRect">
            <a:avLst>
              <a:gd name="adj" fmla="val 5161"/>
            </a:avLst>
          </a:prstGeom>
          <a:ln w="12700">
            <a:solidFill>
              <a:srgbClr val="F2B33D"/>
            </a:solidFill>
            <a:prstDash val="dash"/>
          </a:ln>
        </p:spPr>
      </p:sp>
      <p:sp>
        <p:nvSpPr>
          <p:cNvPr id="21" name="Text 18"/>
          <p:cNvSpPr txBox="1"/>
          <p:nvPr/>
        </p:nvSpPr>
        <p:spPr>
          <a:xfrm>
            <a:off x="4846320" y="3044952"/>
            <a:ext cx="4526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ADC (Analog → Digital)</a:t>
            </a:r>
            <a:endParaRPr lang="en-US" sz="1100" dirty="0"/>
          </a:p>
        </p:txBody>
      </p:sp>
      <p:sp>
        <p:nvSpPr>
          <p:cNvPr id="22" name="Shape 19"/>
          <p:cNvSpPr/>
          <p:nvPr/>
        </p:nvSpPr>
        <p:spPr>
          <a:xfrm>
            <a:off x="548640" y="3611880"/>
            <a:ext cx="5410048" cy="1325880"/>
          </a:xfrm>
          <a:prstGeom prst="roundRect">
            <a:avLst>
              <a:gd name="adj" fmla="val 5517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749808" y="3776472"/>
            <a:ext cx="500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주파수 (Hz) = 높낮이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749808" y="4242816"/>
            <a:ext cx="50077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1초에 몇 번 떨리는가. 많이 떨릴수록 높은 소리</a:t>
            </a:r>
            <a:endParaRPr lang="en-US" sz="1400" dirty="0"/>
          </a:p>
        </p:txBody>
      </p:sp>
      <p:sp>
        <p:nvSpPr>
          <p:cNvPr id="25" name="Shape 22"/>
          <p:cNvSpPr/>
          <p:nvPr/>
        </p:nvSpPr>
        <p:spPr>
          <a:xfrm>
            <a:off x="6233008" y="3611880"/>
            <a:ext cx="5410048" cy="1325880"/>
          </a:xfrm>
          <a:prstGeom prst="roundRect">
            <a:avLst>
              <a:gd name="adj" fmla="val 5517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6434176" y="3776472"/>
            <a:ext cx="500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진폭 = 크기</a:t>
            </a:r>
            <a:endParaRPr lang="en-US" sz="1700" dirty="0"/>
          </a:p>
        </p:txBody>
      </p:sp>
      <p:sp>
        <p:nvSpPr>
          <p:cNvPr id="27" name="Text 24"/>
          <p:cNvSpPr txBox="1"/>
          <p:nvPr/>
        </p:nvSpPr>
        <p:spPr>
          <a:xfrm>
            <a:off x="6434176" y="4242816"/>
            <a:ext cx="5007712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얼마나 크게 떨리는가. 크게 떨릴수록 큰 소리</a:t>
            </a:r>
            <a:endParaRPr lang="en-US" sz="1400" dirty="0"/>
          </a:p>
        </p:txBody>
      </p:sp>
      <p:sp>
        <p:nvSpPr>
          <p:cNvPr id="28" name="Shape 25"/>
          <p:cNvSpPr/>
          <p:nvPr/>
        </p:nvSpPr>
        <p:spPr>
          <a:xfrm>
            <a:off x="548640" y="5212080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731520" y="521208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D2-2 소리의 정체 (슬라이더로 듣기)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2.1 · 소리 만들기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몇 줄로 "라" 소리를 만든다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pic>
        <p:nvPicPr>
          <p:cNvPr id="6" name="Image 0" descr="주파수와 진폭 비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6675120" cy="1835658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7452360" y="1600200"/>
            <a:ext cx="4187952" cy="1828800"/>
          </a:xfrm>
          <a:prstGeom prst="roundRect">
            <a:avLst>
              <a:gd name="adj" fmla="val 4000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680960" y="1783080"/>
            <a:ext cx="3730752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tone(freq, sec=1.0, sr=SR, amp=0.5):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 = np.arange(int(sr*sec)) / sr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amp * np.sin(2*np.pi*freq*t)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1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1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Audio(tone(440), rate=SR)</a:t>
            </a:r>
            <a:endParaRPr lang="en-US" sz="1150" dirty="0"/>
          </a:p>
        </p:txBody>
      </p:sp>
      <p:sp>
        <p:nvSpPr>
          <p:cNvPr id="9" name="Shape 5"/>
          <p:cNvSpPr/>
          <p:nvPr/>
        </p:nvSpPr>
        <p:spPr>
          <a:xfrm>
            <a:off x="548640" y="3657600"/>
            <a:ext cx="6675120" cy="1143000"/>
          </a:xfrm>
          <a:prstGeom prst="roundRect">
            <a:avLst>
              <a:gd name="adj" fmla="val 6400"/>
            </a:avLst>
          </a:prstGeom>
          <a:solidFill>
            <a:srgbClr val="161D29"/>
          </a:solidFill>
          <a:ln w="15875">
            <a:solidFill>
              <a:srgbClr val="5CC8E0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749808" y="3822192"/>
            <a:ext cx="627278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숫자 배열의 정체</a:t>
            </a:r>
            <a:endParaRPr lang="en-US" sz="1700" dirty="0"/>
          </a:p>
        </p:txBody>
      </p:sp>
      <p:sp>
        <p:nvSpPr>
          <p:cNvPr id="11" name="Text 7"/>
          <p:cNvSpPr txBox="1"/>
          <p:nvPr/>
        </p:nvSpPr>
        <p:spPr>
          <a:xfrm>
            <a:off x="749808" y="4288536"/>
            <a:ext cx="6272784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tone(220, sec=0.02) → 모양 (320,) float32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처음 숫자: [0.  0.043  0.086  0.128 ...]</a:t>
            </a:r>
            <a:endParaRPr lang="en-US" sz="1300" dirty="0"/>
          </a:p>
        </p:txBody>
      </p:sp>
      <p:sp>
        <p:nvSpPr>
          <p:cNvPr id="12" name="Shape 8"/>
          <p:cNvSpPr/>
          <p:nvPr/>
        </p:nvSpPr>
        <p:spPr>
          <a:xfrm>
            <a:off x="7452360" y="3657600"/>
            <a:ext cx="4187952" cy="1143000"/>
          </a:xfrm>
          <a:prstGeom prst="roundRect">
            <a:avLst>
              <a:gd name="adj" fmla="val 6400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7653528" y="3822192"/>
            <a:ext cx="37856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옥타브</a:t>
            </a:r>
            <a:endParaRPr lang="en-US" sz="1700" dirty="0"/>
          </a:p>
        </p:txBody>
      </p:sp>
      <p:sp>
        <p:nvSpPr>
          <p:cNvPr id="14" name="Text 10"/>
          <p:cNvSpPr txBox="1"/>
          <p:nvPr/>
        </p:nvSpPr>
        <p:spPr>
          <a:xfrm>
            <a:off x="7653528" y="4288536"/>
            <a:ext cx="378561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440 Hz의 두 배인 880 Hz는 한 옥타브 높은 "라"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548640" y="502920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49808" y="502920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1 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my_tone = tone(</a:t>
            </a:r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   # 880 Hz</a:t>
            </a:r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정답: 880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 · 샘플링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1초에 몇 번 측정할까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pic>
        <p:nvPicPr>
          <p:cNvPr id="6" name="Image 0" descr="낮은 샘플링과 높은 샘플링 비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1094415" cy="3050964"/>
          </a:xfrm>
          <a:prstGeom prst="rect">
            <a:avLst/>
          </a:prstGeom>
        </p:spPr>
      </p:pic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0060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240280"/>
                <a:gridCol w="2240280"/>
                <a:gridCol w="2240280"/>
                <a:gridCol w="22677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샘플링 레이트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8,000 Hz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16,000 Hz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44,100 Hz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48,000 Hz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주로 쓰는 곳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옛날 전화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음성 인식 (Whisper)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음악 CD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영상 · 방송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 · 절반 규칙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샘플링 레이트의 절반까지만 담을 수 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17830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16,000 Hz</a:t>
            </a:r>
            <a:endParaRPr lang="en-US" sz="5000" dirty="0"/>
          </a:p>
        </p:txBody>
      </p:sp>
      <p:sp>
        <p:nvSpPr>
          <p:cNvPr id="7" name="Text 4"/>
          <p:cNvSpPr txBox="1"/>
          <p:nvPr/>
        </p:nvSpPr>
        <p:spPr>
          <a:xfrm>
            <a:off x="137160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샘플링 레이트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5029200" y="1783080"/>
            <a:ext cx="1371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÷ 2</a:t>
            </a:r>
            <a:endParaRPr lang="en-US" sz="5000" dirty="0"/>
          </a:p>
        </p:txBody>
      </p:sp>
      <p:sp>
        <p:nvSpPr>
          <p:cNvPr id="9" name="Text 6"/>
          <p:cNvSpPr txBox="1"/>
          <p:nvPr/>
        </p:nvSpPr>
        <p:spPr>
          <a:xfrm>
            <a:off x="6400800" y="1783080"/>
            <a:ext cx="7315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</a:t>
            </a:r>
            <a:endParaRPr lang="en-US" sz="5000" dirty="0"/>
          </a:p>
        </p:txBody>
      </p:sp>
      <p:sp>
        <p:nvSpPr>
          <p:cNvPr id="10" name="Text 7"/>
          <p:cNvSpPr txBox="1"/>
          <p:nvPr/>
        </p:nvSpPr>
        <p:spPr>
          <a:xfrm>
            <a:off x="7132320" y="1783080"/>
            <a:ext cx="3657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8,000 Hz</a:t>
            </a:r>
            <a:endParaRPr lang="en-US" sz="5000" dirty="0"/>
          </a:p>
        </p:txBody>
      </p:sp>
      <p:sp>
        <p:nvSpPr>
          <p:cNvPr id="11" name="Text 8"/>
          <p:cNvSpPr txBox="1"/>
          <p:nvPr/>
        </p:nvSpPr>
        <p:spPr>
          <a:xfrm>
            <a:off x="7132320" y="2788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담을 수 있는 최고 높이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474720"/>
            <a:ext cx="3515258" cy="1371600"/>
          </a:xfrm>
          <a:prstGeom prst="roundRect">
            <a:avLst>
              <a:gd name="adj" fmla="val 5333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49808" y="3639312"/>
            <a:ext cx="31129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AI · 16,000 Hz</a:t>
            </a:r>
            <a:endParaRPr lang="en-US" sz="1700" dirty="0"/>
          </a:p>
        </p:txBody>
      </p:sp>
      <p:sp>
        <p:nvSpPr>
          <p:cNvPr id="14" name="Text 11"/>
          <p:cNvSpPr txBox="1"/>
          <p:nvPr/>
        </p:nvSpPr>
        <p:spPr>
          <a:xfrm>
            <a:off x="749808" y="4105656"/>
            <a:ext cx="311292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8,000 Hz까지 담음. 말소리에 충분</a:t>
            </a:r>
            <a:endParaRPr lang="en-US" sz="1350" dirty="0"/>
          </a:p>
        </p:txBody>
      </p:sp>
      <p:sp>
        <p:nvSpPr>
          <p:cNvPr id="15" name="Shape 12"/>
          <p:cNvSpPr/>
          <p:nvPr/>
        </p:nvSpPr>
        <p:spPr>
          <a:xfrm>
            <a:off x="4338218" y="3474720"/>
            <a:ext cx="3515258" cy="1371600"/>
          </a:xfrm>
          <a:prstGeom prst="roundRect">
            <a:avLst>
              <a:gd name="adj" fmla="val 5333"/>
            </a:avLst>
          </a:prstGeom>
          <a:solidFill>
            <a:srgbClr val="161D29"/>
          </a:solidFill>
          <a:ln w="15875">
            <a:solidFill>
              <a:srgbClr val="9AA4B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539386" y="3639312"/>
            <a:ext cx="31129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전화 · 8,000 Hz</a:t>
            </a:r>
            <a:endParaRPr lang="en-US" sz="1700" dirty="0"/>
          </a:p>
        </p:txBody>
      </p:sp>
      <p:sp>
        <p:nvSpPr>
          <p:cNvPr id="17" name="Text 14"/>
          <p:cNvSpPr txBox="1"/>
          <p:nvPr/>
        </p:nvSpPr>
        <p:spPr>
          <a:xfrm>
            <a:off x="4539386" y="4105656"/>
            <a:ext cx="311292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4,000 Hz까지. 목소리가 먹먹하게 들리는 이유</a:t>
            </a:r>
            <a:endParaRPr lang="en-US" sz="1350" dirty="0"/>
          </a:p>
        </p:txBody>
      </p:sp>
      <p:sp>
        <p:nvSpPr>
          <p:cNvPr id="18" name="Shape 15"/>
          <p:cNvSpPr/>
          <p:nvPr/>
        </p:nvSpPr>
        <p:spPr>
          <a:xfrm>
            <a:off x="8127797" y="3474720"/>
            <a:ext cx="3515258" cy="1371600"/>
          </a:xfrm>
          <a:prstGeom prst="roundRect">
            <a:avLst>
              <a:gd name="adj" fmla="val 5333"/>
            </a:avLst>
          </a:prstGeom>
          <a:solidFill>
            <a:srgbClr val="161D29"/>
          </a:solidFill>
          <a:ln w="15875">
            <a:solidFill>
              <a:srgbClr val="F06FA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328965" y="3639312"/>
            <a:ext cx="311292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음악 · 44,100 Hz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8328965" y="4105656"/>
            <a:ext cx="3112922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약 22,000 Hz까지. 사람이 듣는 거의 모든 높이</a:t>
            </a:r>
            <a:endParaRPr lang="en-US" sz="1350" dirty="0"/>
          </a:p>
        </p:txBody>
      </p:sp>
      <p:sp>
        <p:nvSpPr>
          <p:cNvPr id="21" name="Shape 18"/>
          <p:cNvSpPr/>
          <p:nvPr/>
        </p:nvSpPr>
        <p:spPr>
          <a:xfrm>
            <a:off x="548640" y="5120640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512064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D2-3 샘플링 체험 (전화 vs 음성 AI vs CD)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 · Aliasing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함부로 줄이면 가짜 소리가 생긴다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pic>
        <p:nvPicPr>
          <p:cNvPr id="6" name="Image 0" descr="원본, 건너뛰기, resample 스펙트로그램 비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1094415" cy="290161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4730416"/>
            <a:ext cx="5410048" cy="1097280"/>
          </a:xfrm>
          <a:prstGeom prst="roundRect">
            <a:avLst>
              <a:gd name="adj" fmla="val 6667"/>
            </a:avLst>
          </a:prstGeom>
          <a:solidFill>
            <a:srgbClr val="161D29"/>
          </a:solidFill>
          <a:ln w="15875">
            <a:solidFill>
              <a:srgbClr val="F07167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49808" y="4895008"/>
            <a:ext cx="500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0716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건너뛰기  chirp[::4]</a:t>
            </a:r>
            <a:endParaRPr lang="en-US" sz="1700" dirty="0"/>
          </a:p>
        </p:txBody>
      </p:sp>
      <p:sp>
        <p:nvSpPr>
          <p:cNvPr id="9" name="Text 5"/>
          <p:cNvSpPr txBox="1"/>
          <p:nvPr/>
        </p:nvSpPr>
        <p:spPr>
          <a:xfrm>
            <a:off x="749808" y="5361352"/>
            <a:ext cx="500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절반을 넘는 높은 소리가 가짜 낮은 소리로 접힌다 (Aliasing)</a:t>
            </a:r>
            <a:endParaRPr lang="en-US" sz="1300" dirty="0"/>
          </a:p>
        </p:txBody>
      </p:sp>
      <p:sp>
        <p:nvSpPr>
          <p:cNvPr id="10" name="Shape 6"/>
          <p:cNvSpPr/>
          <p:nvPr/>
        </p:nvSpPr>
        <p:spPr>
          <a:xfrm>
            <a:off x="6233008" y="4730416"/>
            <a:ext cx="5410048" cy="1097280"/>
          </a:xfrm>
          <a:prstGeom prst="roundRect">
            <a:avLst>
              <a:gd name="adj" fmla="val 6667"/>
            </a:avLst>
          </a:prstGeom>
          <a:solidFill>
            <a:srgbClr val="161D29"/>
          </a:solidFill>
          <a:ln w="15875">
            <a:solidFill>
              <a:srgbClr val="5FD38D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6434176" y="4895008"/>
            <a:ext cx="50077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librosa.resample()</a:t>
            </a:r>
            <a:endParaRPr lang="en-US" sz="1700" dirty="0"/>
          </a:p>
        </p:txBody>
      </p:sp>
      <p:sp>
        <p:nvSpPr>
          <p:cNvPr id="12" name="Text 8"/>
          <p:cNvSpPr txBox="1"/>
          <p:nvPr/>
        </p:nvSpPr>
        <p:spPr>
          <a:xfrm>
            <a:off x="6434176" y="5361352"/>
            <a:ext cx="500771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높은 소리를 먼저 걸러낸 뒤 줄인다. 가짜 소리 없음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2.2 · 바르게 줄이기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샘플링 레이트는 이렇게 바꾼다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6035040"/>
                <a:gridCol w="2862072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방법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코드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결과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불러오면서 바꾸기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librosa.load("x.wav", sr=16000)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 가장 많이 씀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배열 바꾸기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librosa.resample(y, orig_sr=44100, target_sr=16000)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 바른 방법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파일 바꾸기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ffmpeg -i in.wav -ar 16000 out.wav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✅ 바른 방법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건너뛰기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y[::3]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 Aliasing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숫자만 바꿔 저장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sf.write("out.wav", y44, 16000)</a:t>
                      </a:r>
                      <a:endParaRPr lang="en-US" sz="13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❌ 느리고 낮은 소리</a:t>
                      </a:r>
                      <a:endParaRPr lang="en-US" sz="13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470916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8" name="Text 4"/>
          <p:cNvSpPr txBox="1"/>
          <p:nvPr/>
        </p:nvSpPr>
        <p:spPr>
          <a:xfrm>
            <a:off x="749808" y="470916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2 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y16 = librosa.resample(y44, orig_sr=sr44, target_sr=</a:t>
            </a:r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정답: 16000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2.3 · 양자화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크기를 몇 단계로 적을까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pic>
        <p:nvPicPr>
          <p:cNvPr id="6" name="Image 0" descr="3bit와 6bit 양자화 비교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600200"/>
            <a:ext cx="11094415" cy="3050964"/>
          </a:xfrm>
          <a:prstGeom prst="rect">
            <a:avLst/>
          </a:prstGeom>
        </p:spPr>
      </p:pic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480060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240280"/>
                <a:gridCol w="2240280"/>
                <a:gridCol w="2240280"/>
                <a:gridCol w="226771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비트 깊이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8bit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16bit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24bit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32bit float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단계 · 쓰는 곳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256 · 옛날 게임, 전화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65,536 · CD, 음성 데이터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약 1,677만 · 스튜디오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소수 · librosa 배열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2.3 · 저장할 때 정하는 비트 깊이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soundfile의 subtype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6583680" cy="2011680"/>
          </a:xfrm>
          <a:prstGeom prst="roundRect">
            <a:avLst>
              <a:gd name="adj" fmla="val 3636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874520"/>
            <a:ext cx="6126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subtype in ["PCM_16", "PCM_24", "FLOAT"]: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sf.write(f"q_{subtype}.wav", y, SR, subtype=subtype)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PCM_16  → Signed 16 bit PCM     187.5 KB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PCM_24  → Signed 24 bit PCM     281.3 KB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FLOAT   → 32 bit float          375.1 KB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406640" y="1691640"/>
            <a:ext cx="4233672" cy="2011680"/>
          </a:xfrm>
          <a:prstGeom prst="roundRect">
            <a:avLst>
              <a:gd name="adj" fmla="val 3636"/>
            </a:avLst>
          </a:prstGeom>
          <a:solidFill>
            <a:srgbClr val="161D29"/>
          </a:solidFill>
          <a:ln w="15875">
            <a:solidFill>
              <a:srgbClr val="B39DF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07808" y="1856232"/>
            <a:ext cx="3831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 비율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607808" y="2322576"/>
            <a:ext cx="383133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16bit : 24bit : 32bit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 2 : 3 : 4 바이트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비트 깊이에 정확히 비례한다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3977640"/>
            <a:ext cx="11094415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5875">
            <a:solidFill>
              <a:srgbClr val="B39DF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3977640"/>
            <a:ext cx="1072865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3 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sf.write("my_16bit.wav", y, SR, subtype="</a:t>
            </a:r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")</a:t>
            </a:r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정답: PCM_16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548640" y="4846320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31520" y="484632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D2-4 양자화 체험 (비트 줄여 듣기)</a:t>
            </a:r>
            <a:endParaRPr lang="en-US" sz="1300" dirty="0"/>
          </a:p>
        </p:txBody>
      </p:sp>
      <p:sp>
        <p:nvSpPr>
          <p:cNvPr id="15" name="Text 12"/>
          <p:cNvSpPr txBox="1"/>
          <p:nvPr/>
        </p:nvSpPr>
        <p:spPr>
          <a:xfrm>
            <a:off x="548640" y="3730752"/>
            <a:ext cx="6583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C667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수치는 6초 예시 음성 기준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2.4 · 채널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mono와 stereo, 그리고 라이브러리마다 다른 모양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856232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mono</a:t>
            </a:r>
            <a:endParaRPr lang="en-US" sz="17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322576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1개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음성 모델 입력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48640" y="3337560"/>
            <a:ext cx="2743200" cy="1463040"/>
          </a:xfrm>
          <a:prstGeom prst="roundRect">
            <a:avLst>
              <a:gd name="adj" fmla="val 5000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49808" y="3502152"/>
            <a:ext cx="23408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stereo</a:t>
            </a:r>
            <a:endParaRPr lang="en-US" sz="1700" dirty="0"/>
          </a:p>
        </p:txBody>
      </p:sp>
      <p:sp>
        <p:nvSpPr>
          <p:cNvPr id="11" name="Text 8"/>
          <p:cNvSpPr txBox="1"/>
          <p:nvPr/>
        </p:nvSpPr>
        <p:spPr>
          <a:xfrm>
            <a:off x="749808" y="3968496"/>
            <a:ext cx="23408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 2개 (L, R)</a:t>
            </a:r>
            <a:endParaRPr lang="en-US" sz="14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음악 · 영상</a:t>
            </a:r>
            <a:endParaRPr lang="en-US" sz="14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11880" y="1691640"/>
          <a:ext cx="8028432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327355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라이브러리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모양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librosa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(채널, 샘플) = (2, N)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librosa.load(f, mono=False)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soundfile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(샘플, 채널) = (N, 2)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sf.read(f)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저장할 때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librosa 배열 → .T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sf.write(f, stereo.T, sr)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mono로 합치기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채널 축 평균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stereo.mean(axis=0)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</a:tbl>
          </a:graphicData>
        </a:graphic>
      </p:graphicFrame>
      <p:sp>
        <p:nvSpPr>
          <p:cNvPr id="13" name="Shape 9"/>
          <p:cNvSpPr/>
          <p:nvPr/>
        </p:nvSpPr>
        <p:spPr>
          <a:xfrm>
            <a:off x="548640" y="5029200"/>
            <a:ext cx="6949440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49808" y="5029200"/>
            <a:ext cx="6583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4 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mono = stereo.mean(axis=</a:t>
            </a:r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정답: 0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7680960" y="5093208"/>
            <a:ext cx="3959352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6" name="Text 12"/>
          <p:cNvSpPr txBox="1"/>
          <p:nvPr/>
        </p:nvSpPr>
        <p:spPr>
          <a:xfrm>
            <a:off x="7863840" y="5093208"/>
            <a:ext cx="368503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D2-5 채널 체험 (좌우 이동)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2.5 · 파일 포맷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무손실은 원래 숫자 그대로, 손실은 덜 중요한 소리를 버린다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2567864" cy="2377440"/>
          </a:xfrm>
          <a:prstGeom prst="roundRect">
            <a:avLst>
              <a:gd name="adj" fmla="val 3077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49808" y="1874520"/>
            <a:ext cx="2165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4FD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WAV</a:t>
            </a:r>
            <a:endParaRPr lang="en-US" sz="2400" dirty="0"/>
          </a:p>
        </p:txBody>
      </p:sp>
      <p:sp>
        <p:nvSpPr>
          <p:cNvPr id="8" name="Text 5"/>
          <p:cNvSpPr txBox="1"/>
          <p:nvPr/>
        </p:nvSpPr>
        <p:spPr>
          <a:xfrm>
            <a:off x="749808" y="2468880"/>
            <a:ext cx="216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무손실 · 압축 없음</a:t>
            </a:r>
            <a:endParaRPr lang="en-US" sz="1300" dirty="0"/>
          </a:p>
        </p:txBody>
      </p:sp>
      <p:sp>
        <p:nvSpPr>
          <p:cNvPr id="9" name="Text 6"/>
          <p:cNvSpPr txBox="1"/>
          <p:nvPr/>
        </p:nvSpPr>
        <p:spPr>
          <a:xfrm>
            <a:off x="749808" y="2880360"/>
            <a:ext cx="2165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단순하고 큼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학습 · 추론 입력의 표준</a:t>
            </a:r>
            <a:endParaRPr lang="en-US" sz="1250" dirty="0"/>
          </a:p>
        </p:txBody>
      </p:sp>
      <p:sp>
        <p:nvSpPr>
          <p:cNvPr id="10" name="Shape 7"/>
          <p:cNvSpPr/>
          <p:nvPr/>
        </p:nvSpPr>
        <p:spPr>
          <a:xfrm>
            <a:off x="3390824" y="1737360"/>
            <a:ext cx="2567864" cy="2377440"/>
          </a:xfrm>
          <a:prstGeom prst="roundRect">
            <a:avLst>
              <a:gd name="adj" fmla="val 3077"/>
            </a:avLst>
          </a:prstGeom>
          <a:solidFill>
            <a:srgbClr val="161D29"/>
          </a:solidFill>
          <a:ln w="15875">
            <a:solidFill>
              <a:srgbClr val="B39DF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3591992" y="1874520"/>
            <a:ext cx="2165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B3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FLAC</a:t>
            </a:r>
            <a:endParaRPr lang="en-US" sz="2400" dirty="0"/>
          </a:p>
        </p:txBody>
      </p:sp>
      <p:sp>
        <p:nvSpPr>
          <p:cNvPr id="12" name="Text 9"/>
          <p:cNvSpPr txBox="1"/>
          <p:nvPr/>
        </p:nvSpPr>
        <p:spPr>
          <a:xfrm>
            <a:off x="3591992" y="2468880"/>
            <a:ext cx="216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무손실 · 압축</a:t>
            </a:r>
            <a:endParaRPr lang="en-US" sz="1300" dirty="0"/>
          </a:p>
        </p:txBody>
      </p:sp>
      <p:sp>
        <p:nvSpPr>
          <p:cNvPr id="13" name="Text 10"/>
          <p:cNvSpPr txBox="1"/>
          <p:nvPr/>
        </p:nvSpPr>
        <p:spPr>
          <a:xfrm>
            <a:off x="3591992" y="2880360"/>
            <a:ext cx="2165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원래 숫자 그대로 작아짐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데이터셋 보관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6233008" y="1737360"/>
            <a:ext cx="2567864" cy="2377440"/>
          </a:xfrm>
          <a:prstGeom prst="roundRect">
            <a:avLst>
              <a:gd name="adj" fmla="val 3077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6434176" y="1874520"/>
            <a:ext cx="2165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MP3</a:t>
            </a:r>
            <a:endParaRPr lang="en-US" sz="2400" dirty="0"/>
          </a:p>
        </p:txBody>
      </p:sp>
      <p:sp>
        <p:nvSpPr>
          <p:cNvPr id="16" name="Text 13"/>
          <p:cNvSpPr txBox="1"/>
          <p:nvPr/>
        </p:nvSpPr>
        <p:spPr>
          <a:xfrm>
            <a:off x="6434176" y="2468880"/>
            <a:ext cx="216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 · 압축</a:t>
            </a:r>
            <a:endParaRPr lang="en-US" sz="1300" dirty="0"/>
          </a:p>
        </p:txBody>
      </p:sp>
      <p:sp>
        <p:nvSpPr>
          <p:cNvPr id="17" name="Text 14"/>
          <p:cNvSpPr txBox="1"/>
          <p:nvPr/>
        </p:nvSpPr>
        <p:spPr>
          <a:xfrm>
            <a:off x="6434176" y="2880360"/>
            <a:ext cx="2165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작고 어디서나 재생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배포 · 다운로드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9075191" y="1737360"/>
            <a:ext cx="2567864" cy="2377440"/>
          </a:xfrm>
          <a:prstGeom prst="roundRect">
            <a:avLst>
              <a:gd name="adj" fmla="val 3077"/>
            </a:avLst>
          </a:prstGeom>
          <a:solidFill>
            <a:srgbClr val="161D29"/>
          </a:solidFill>
          <a:ln w="15875">
            <a:solidFill>
              <a:srgbClr val="F06FA6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276359" y="1874520"/>
            <a:ext cx="21655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06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Opus</a:t>
            </a:r>
            <a:endParaRPr lang="en-US" sz="2400" dirty="0"/>
          </a:p>
        </p:txBody>
      </p:sp>
      <p:sp>
        <p:nvSpPr>
          <p:cNvPr id="20" name="Text 17"/>
          <p:cNvSpPr txBox="1"/>
          <p:nvPr/>
        </p:nvSpPr>
        <p:spPr>
          <a:xfrm>
            <a:off x="9276359" y="2468880"/>
            <a:ext cx="21655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 · 압축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9276359" y="2880360"/>
            <a:ext cx="216552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낮은 비트레이트에서도 깨끗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실시간 통화 · WebRTC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548640" y="4343400"/>
            <a:ext cx="5410048" cy="411480"/>
          </a:xfrm>
          <a:prstGeom prst="roundRect">
            <a:avLst>
              <a:gd name="adj" fmla="val 17778"/>
            </a:avLst>
          </a:prstGeom>
          <a:solidFill>
            <a:srgbClr val="15302B"/>
          </a:solidFill>
          <a:ln w="12700">
            <a:solidFill>
              <a:srgbClr val="5FD38D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548640" y="4343400"/>
            <a:ext cx="541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5FD38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무손실: 모델 학습 · 입력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6233008" y="4343400"/>
            <a:ext cx="5410048" cy="411480"/>
          </a:xfrm>
          <a:prstGeom prst="roundRect">
            <a:avLst>
              <a:gd name="adj" fmla="val 17778"/>
            </a:avLst>
          </a:prstGeom>
          <a:solidFill>
            <a:srgbClr val="3A1F2C"/>
          </a:solidFill>
          <a:ln w="12700">
            <a:solidFill>
              <a:srgbClr val="F06FA6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233008" y="4343400"/>
            <a:ext cx="5410048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손실: 사람에게 들려주기 · 전송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2.5 · 같은 소리, 네 가지 포맷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크기는 줄이고, 숫자는 지킬까 버릴까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48640" y="1645920"/>
          <a:ext cx="640080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23760" y="1691640"/>
          <a:ext cx="4416552" cy="914400"/>
        </p:xfrm>
        <a:graphic>
          <a:graphicData uri="http://schemas.openxmlformats.org/drawingml/2006/table">
            <a:tbl>
              <a:tblPr/>
              <a:tblGrid>
                <a:gridCol w="1234440"/>
                <a:gridCol w="1371600"/>
                <a:gridCol w="1810512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포맷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WAV 대비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원래 숫자와 차이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WAV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100%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(같음)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FLAC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29%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 (같음)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MP3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26%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0.0257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Opus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11%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0.1682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</a:tbl>
          </a:graphicData>
        </a:graphic>
      </p:graphicFrame>
      <p:sp>
        <p:nvSpPr>
          <p:cNvPr id="8" name="Text 3"/>
          <p:cNvSpPr txBox="1"/>
          <p:nvPr/>
        </p:nvSpPr>
        <p:spPr>
          <a:xfrm>
            <a:off x="7223760" y="4114800"/>
            <a:ext cx="441655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6초 예시 음성 · 16kHz · 16bit 기준 실행 결과. 음성에 따라 달라진다.</a:t>
            </a:r>
            <a:endParaRPr lang="en-US" sz="1100" dirty="0"/>
          </a:p>
        </p:txBody>
      </p:sp>
      <p:sp>
        <p:nvSpPr>
          <p:cNvPr id="9" name="Text 4"/>
          <p:cNvSpPr txBox="1"/>
          <p:nvPr/>
        </p:nvSpPr>
        <p:spPr>
          <a:xfrm>
            <a:off x="548640" y="516636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무손실 FLAC: 작아져도 숫자는 그대로.  손실 MP3 · Opus: 훨씬 작지만 숫자가 바뀐다.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2.5 · WAV 크기 예측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WAV 크기는 계산으로 알 수 있다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sp>
        <p:nvSpPr>
          <p:cNvPr id="6" name="Text 3"/>
          <p:cNvSpPr txBox="1"/>
          <p:nvPr/>
        </p:nvSpPr>
        <p:spPr>
          <a:xfrm>
            <a:off x="868680" y="1783080"/>
            <a:ext cx="21031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16,000</a:t>
            </a:r>
            <a:endParaRPr lang="en-US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69748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1초당 샘플</a:t>
            </a:r>
            <a:endParaRPr lang="en-US" sz="1250" dirty="0"/>
          </a:p>
        </p:txBody>
      </p:sp>
      <p:sp>
        <p:nvSpPr>
          <p:cNvPr id="8" name="Text 5"/>
          <p:cNvSpPr txBox="1"/>
          <p:nvPr/>
        </p:nvSpPr>
        <p:spPr>
          <a:xfrm>
            <a:off x="2971800" y="178308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</a:t>
            </a:r>
            <a:endParaRPr lang="en-US" sz="4000" dirty="0"/>
          </a:p>
        </p:txBody>
      </p:sp>
      <p:sp>
        <p:nvSpPr>
          <p:cNvPr id="9" name="Text 6"/>
          <p:cNvSpPr txBox="1"/>
          <p:nvPr/>
        </p:nvSpPr>
        <p:spPr>
          <a:xfrm>
            <a:off x="3474720" y="17830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7"/>
          <p:cNvSpPr txBox="1"/>
          <p:nvPr/>
        </p:nvSpPr>
        <p:spPr>
          <a:xfrm>
            <a:off x="320040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바이트 (16bit)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4480560" y="178308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</a:t>
            </a:r>
            <a:endParaRPr lang="en-US" sz="4000" dirty="0"/>
          </a:p>
        </p:txBody>
      </p:sp>
      <p:sp>
        <p:nvSpPr>
          <p:cNvPr id="12" name="Text 9"/>
          <p:cNvSpPr txBox="1"/>
          <p:nvPr/>
        </p:nvSpPr>
        <p:spPr>
          <a:xfrm>
            <a:off x="4983480" y="17830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4000" dirty="0"/>
          </a:p>
        </p:txBody>
      </p:sp>
      <p:sp>
        <p:nvSpPr>
          <p:cNvPr id="13" name="Text 10"/>
          <p:cNvSpPr txBox="1"/>
          <p:nvPr/>
        </p:nvSpPr>
        <p:spPr>
          <a:xfrm>
            <a:off x="470916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채널</a:t>
            </a:r>
            <a:endParaRPr lang="en-US" sz="1250" dirty="0"/>
          </a:p>
        </p:txBody>
      </p:sp>
      <p:sp>
        <p:nvSpPr>
          <p:cNvPr id="14" name="Text 11"/>
          <p:cNvSpPr txBox="1"/>
          <p:nvPr/>
        </p:nvSpPr>
        <p:spPr>
          <a:xfrm>
            <a:off x="5989320" y="178308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×</a:t>
            </a:r>
            <a:endParaRPr lang="en-US" sz="4000" dirty="0"/>
          </a:p>
        </p:txBody>
      </p:sp>
      <p:sp>
        <p:nvSpPr>
          <p:cNvPr id="15" name="Text 12"/>
          <p:cNvSpPr txBox="1"/>
          <p:nvPr/>
        </p:nvSpPr>
        <p:spPr>
          <a:xfrm>
            <a:off x="6492240" y="1783080"/>
            <a:ext cx="1005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10</a:t>
            </a:r>
            <a:endParaRPr lang="en-US" sz="4000" dirty="0"/>
          </a:p>
        </p:txBody>
      </p:sp>
      <p:sp>
        <p:nvSpPr>
          <p:cNvPr id="16" name="Text 13"/>
          <p:cNvSpPr txBox="1"/>
          <p:nvPr/>
        </p:nvSpPr>
        <p:spPr>
          <a:xfrm>
            <a:off x="621792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</a:t>
            </a:r>
            <a:endParaRPr lang="en-US" sz="1250" dirty="0"/>
          </a:p>
        </p:txBody>
      </p:sp>
      <p:sp>
        <p:nvSpPr>
          <p:cNvPr id="17" name="Text 14"/>
          <p:cNvSpPr txBox="1"/>
          <p:nvPr/>
        </p:nvSpPr>
        <p:spPr>
          <a:xfrm>
            <a:off x="7498080" y="1783080"/>
            <a:ext cx="502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=</a:t>
            </a:r>
            <a:endParaRPr lang="en-US" sz="4000" dirty="0"/>
          </a:p>
        </p:txBody>
      </p:sp>
      <p:sp>
        <p:nvSpPr>
          <p:cNvPr id="18" name="Text 15"/>
          <p:cNvSpPr txBox="1"/>
          <p:nvPr/>
        </p:nvSpPr>
        <p:spPr>
          <a:xfrm>
            <a:off x="8001000" y="1783080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320,000</a:t>
            </a:r>
            <a:endParaRPr lang="en-US" sz="4000" dirty="0"/>
          </a:p>
        </p:txBody>
      </p:sp>
      <p:sp>
        <p:nvSpPr>
          <p:cNvPr id="19" name="Text 16"/>
          <p:cNvSpPr txBox="1"/>
          <p:nvPr/>
        </p:nvSpPr>
        <p:spPr>
          <a:xfrm>
            <a:off x="7726680" y="269748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바이트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548640" y="3383280"/>
            <a:ext cx="5760720" cy="868680"/>
          </a:xfrm>
          <a:prstGeom prst="roundRect">
            <a:avLst>
              <a:gd name="adj" fmla="val 8421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3566160"/>
            <a:ext cx="5303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예측 192,000 바이트 | 실제 192,044 바이트</a:t>
            </a:r>
            <a:endParaRPr lang="en-US" sz="13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(차이 44: 파일 머리말)</a:t>
            </a:r>
            <a:endParaRPr lang="en-US" sz="1300" dirty="0"/>
          </a:p>
        </p:txBody>
      </p:sp>
      <p:sp>
        <p:nvSpPr>
          <p:cNvPr id="22" name="Shape 19"/>
          <p:cNvSpPr/>
          <p:nvPr/>
        </p:nvSpPr>
        <p:spPr>
          <a:xfrm>
            <a:off x="6537960" y="3383280"/>
            <a:ext cx="5102352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5875">
            <a:solidFill>
              <a:srgbClr val="F06FA6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6739128" y="3383280"/>
            <a:ext cx="47365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06FA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5 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bytes_per_sample = </a:t>
            </a:r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정답: 2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48640" y="4572000"/>
            <a:ext cx="493776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31520" y="457200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D2-6 포맷 계산기 (1시간 데이터 크기)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2.6 · 오디오 도구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네 가지 도구, 각자 잘하는 일이 다르다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37360"/>
            <a:ext cx="2567864" cy="2834640"/>
          </a:xfrm>
          <a:prstGeom prst="roundRect">
            <a:avLst>
              <a:gd name="adj" fmla="val 2849"/>
            </a:avLst>
          </a:prstGeom>
          <a:solidFill>
            <a:srgbClr val="161D29"/>
          </a:solidFill>
          <a:ln w="15875">
            <a:solidFill>
              <a:srgbClr val="B39DF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31520" y="187452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B39DF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soundfile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731520" y="233172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읽기 · 쓰기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685800" y="2834640"/>
            <a:ext cx="2293544" cy="1554480"/>
          </a:xfrm>
          <a:prstGeom prst="roundRect">
            <a:avLst>
              <a:gd name="adj" fmla="val 3529"/>
            </a:avLst>
          </a:prstGeom>
          <a:solidFill>
            <a:srgbClr val="0B0F15"/>
          </a:solidFill>
          <a:ln w="9525">
            <a:solidFill>
              <a:srgbClr val="2A3344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04672" y="2926080"/>
            <a:ext cx="2055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sf.info(f)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sf.read(f)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sf.write(f, y, sr)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390824" y="1737360"/>
            <a:ext cx="2567864" cy="2834640"/>
          </a:xfrm>
          <a:prstGeom prst="roundRect">
            <a:avLst>
              <a:gd name="adj" fmla="val 2849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3573704" y="187452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4FD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librosa</a:t>
            </a:r>
            <a:endParaRPr lang="en-US" sz="1800" dirty="0"/>
          </a:p>
        </p:txBody>
      </p:sp>
      <p:sp>
        <p:nvSpPr>
          <p:cNvPr id="13" name="Text 10"/>
          <p:cNvSpPr txBox="1"/>
          <p:nvPr/>
        </p:nvSpPr>
        <p:spPr>
          <a:xfrm>
            <a:off x="3573704" y="233172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· 변환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3527984" y="2834640"/>
            <a:ext cx="2293544" cy="1554480"/>
          </a:xfrm>
          <a:prstGeom prst="roundRect">
            <a:avLst>
              <a:gd name="adj" fmla="val 3529"/>
            </a:avLst>
          </a:prstGeom>
          <a:solidFill>
            <a:srgbClr val="0B0F15"/>
          </a:solidFill>
          <a:ln w="9525">
            <a:solidFill>
              <a:srgbClr val="2A334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3646856" y="2926080"/>
            <a:ext cx="2055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librosa.load(f, sr=16000)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librosa.resample(...)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특징 추출 (D3)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6233008" y="1737360"/>
            <a:ext cx="2567864" cy="2834640"/>
          </a:xfrm>
          <a:prstGeom prst="roundRect">
            <a:avLst>
              <a:gd name="adj" fmla="val 2849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15888" y="187452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pydub</a:t>
            </a:r>
            <a:endParaRPr lang="en-US" sz="1800" dirty="0"/>
          </a:p>
        </p:txBody>
      </p:sp>
      <p:sp>
        <p:nvSpPr>
          <p:cNvPr id="18" name="Text 15"/>
          <p:cNvSpPr txBox="1"/>
          <p:nvPr/>
        </p:nvSpPr>
        <p:spPr>
          <a:xfrm>
            <a:off x="6415888" y="233172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편집</a:t>
            </a:r>
            <a:endParaRPr lang="en-US" sz="1500" dirty="0"/>
          </a:p>
        </p:txBody>
      </p:sp>
      <p:sp>
        <p:nvSpPr>
          <p:cNvPr id="19" name="Shape 16"/>
          <p:cNvSpPr/>
          <p:nvPr/>
        </p:nvSpPr>
        <p:spPr>
          <a:xfrm>
            <a:off x="6370168" y="2834640"/>
            <a:ext cx="2293544" cy="1554480"/>
          </a:xfrm>
          <a:prstGeom prst="roundRect">
            <a:avLst>
              <a:gd name="adj" fmla="val 3529"/>
            </a:avLst>
          </a:prstGeom>
          <a:solidFill>
            <a:srgbClr val="0B0F15"/>
          </a:solidFill>
          <a:ln w="9525">
            <a:solidFill>
              <a:srgbClr val="2A3344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6489040" y="2926080"/>
            <a:ext cx="2055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audio[1000:4000]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 + 6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.fade_in(500)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9075191" y="1737360"/>
            <a:ext cx="2567864" cy="2834640"/>
          </a:xfrm>
          <a:prstGeom prst="roundRect">
            <a:avLst>
              <a:gd name="adj" fmla="val 2849"/>
            </a:avLst>
          </a:prstGeom>
          <a:solidFill>
            <a:srgbClr val="161D29"/>
          </a:solidFill>
          <a:ln w="15875">
            <a:solidFill>
              <a:srgbClr val="F06FA6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9258071" y="1874520"/>
            <a:ext cx="2202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06FA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ffmpeg</a:t>
            </a:r>
            <a:endParaRPr lang="en-US" sz="1800" dirty="0"/>
          </a:p>
        </p:txBody>
      </p:sp>
      <p:sp>
        <p:nvSpPr>
          <p:cNvPr id="23" name="Text 20"/>
          <p:cNvSpPr txBox="1"/>
          <p:nvPr/>
        </p:nvSpPr>
        <p:spPr>
          <a:xfrm>
            <a:off x="9258071" y="2331720"/>
            <a:ext cx="22021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형식 변환</a:t>
            </a:r>
            <a:endParaRPr lang="en-US" sz="1500" dirty="0"/>
          </a:p>
        </p:txBody>
      </p:sp>
      <p:sp>
        <p:nvSpPr>
          <p:cNvPr id="24" name="Shape 21"/>
          <p:cNvSpPr/>
          <p:nvPr/>
        </p:nvSpPr>
        <p:spPr>
          <a:xfrm>
            <a:off x="9212351" y="2834640"/>
            <a:ext cx="2293544" cy="1554480"/>
          </a:xfrm>
          <a:prstGeom prst="roundRect">
            <a:avLst>
              <a:gd name="adj" fmla="val 3529"/>
            </a:avLst>
          </a:prstGeom>
          <a:solidFill>
            <a:srgbClr val="0B0F15"/>
          </a:solidFill>
          <a:ln w="9525">
            <a:solidFill>
              <a:srgbClr val="2A3344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9331223" y="2926080"/>
            <a:ext cx="2055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webm · m4a · mp3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→ wav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-ar 16000 -ac 1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548640" y="4892040"/>
            <a:ext cx="457200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731520" y="4892040"/>
            <a:ext cx="42976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D2-7 도구 고르기 (상황 8개)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2.6 · pydub 편집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시간은 밀리초(ms)로 다룬다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6766560" cy="2743200"/>
          </a:xfrm>
          <a:prstGeom prst="roundRect">
            <a:avLst>
              <a:gd name="adj" fmla="val 2667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777240" y="1874520"/>
            <a:ext cx="63093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pydub import AudioSegment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audio = AudioSegment.from_file("speech.wav")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clip  = audio[1000:4000]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# 1초 ~ 4초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loud  = clip + 6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# 6dB 키우기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faded = clip.fade_in(500).fade_out(1000)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both  = clip + AudioSegment.silent(800) + clip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5FD38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clip.export("out.mp3", format="mp3")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7589520" y="1691640"/>
            <a:ext cx="4050792" cy="2743200"/>
          </a:xfrm>
          <a:prstGeom prst="roundRect">
            <a:avLst>
              <a:gd name="adj" fmla="val 2667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790688" y="1856232"/>
            <a:ext cx="36484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밀리초 감각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790688" y="2322576"/>
            <a:ext cx="3648456" cy="19751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1초 = 1,000 ms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audio[:2000] = 처음 2초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audio[-3000:] = 마지막 3초</a:t>
            </a:r>
            <a:endParaRPr lang="en-US" sz="135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5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len(audio) = 길이 (ms)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48640" y="4663440"/>
            <a:ext cx="6766560" cy="566928"/>
          </a:xfrm>
          <a:prstGeom prst="roundRect">
            <a:avLst>
              <a:gd name="adj" fmla="val 12903"/>
            </a:avLst>
          </a:prstGeom>
          <a:solidFill>
            <a:srgbClr val="161D29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49808" y="4663440"/>
            <a:ext cx="6400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6   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first2 = audio[:</a:t>
            </a:r>
            <a:pPr indent="0" marL="0">
              <a:buNone/>
            </a:pPr>
            <a:r>
              <a:rPr lang="en-US" sz="130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buNone/>
            </a:pPr>
            <a:r>
              <a:rPr lang="en-US" sz="130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]   # 2초</a:t>
            </a:r>
            <a:pPr indent="0" marL="0">
              <a:buNone/>
            </a:pPr>
            <a:r>
              <a:rPr lang="en-US" sz="13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    정답: 2000</a:t>
            </a:r>
            <a:endParaRPr lang="en-US" sz="1300" dirty="0"/>
          </a:p>
        </p:txBody>
      </p:sp>
      <p:sp>
        <p:nvSpPr>
          <p:cNvPr id="13" name="Shape 10"/>
          <p:cNvSpPr/>
          <p:nvPr/>
        </p:nvSpPr>
        <p:spPr>
          <a:xfrm>
            <a:off x="7589520" y="4727448"/>
            <a:ext cx="4050792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772400" y="4727448"/>
            <a:ext cx="37764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D2-8 pydub 편집기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2.6 · 미니 프로젝트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어떤 파일이든 음성 모델용으로 바꾸는 전처리기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691640"/>
            <a:ext cx="1999427" cy="868680"/>
          </a:xfrm>
          <a:prstGeom prst="roundRect">
            <a:avLst>
              <a:gd name="adj" fmla="val 8421"/>
            </a:avLst>
          </a:prstGeom>
          <a:solidFill>
            <a:srgbClr val="161D29"/>
          </a:solidFill>
          <a:ln w="19050">
            <a:solidFill>
              <a:srgbClr val="E6EAF2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94360" y="1691640"/>
            <a:ext cx="190798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아무 파일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mp3 · m4a · webm</a:t>
            </a:r>
            <a:endParaRPr lang="en-US" sz="1500" dirty="0"/>
          </a:p>
        </p:txBody>
      </p:sp>
      <p:sp>
        <p:nvSpPr>
          <p:cNvPr id="8" name="Text 5"/>
          <p:cNvSpPr txBox="1"/>
          <p:nvPr/>
        </p:nvSpPr>
        <p:spPr>
          <a:xfrm>
            <a:off x="2548067" y="169164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9" name="Shape 6"/>
          <p:cNvSpPr/>
          <p:nvPr/>
        </p:nvSpPr>
        <p:spPr>
          <a:xfrm>
            <a:off x="2822387" y="1691640"/>
            <a:ext cx="1999427" cy="868680"/>
          </a:xfrm>
          <a:prstGeom prst="roundRect">
            <a:avLst>
              <a:gd name="adj" fmla="val 8421"/>
            </a:avLst>
          </a:prstGeom>
          <a:solidFill>
            <a:srgbClr val="161D29"/>
          </a:solidFill>
          <a:ln w="19050">
            <a:solidFill>
              <a:srgbClr val="4FD1B5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2868107" y="1691640"/>
            <a:ext cx="190798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불러오기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sr=16000, mono</a:t>
            </a:r>
            <a:endParaRPr lang="en-US" sz="1500" dirty="0"/>
          </a:p>
        </p:txBody>
      </p:sp>
      <p:sp>
        <p:nvSpPr>
          <p:cNvPr id="11" name="Text 8"/>
          <p:cNvSpPr txBox="1"/>
          <p:nvPr/>
        </p:nvSpPr>
        <p:spPr>
          <a:xfrm>
            <a:off x="4821814" y="169164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5096134" y="1691640"/>
            <a:ext cx="1999427" cy="868680"/>
          </a:xfrm>
          <a:prstGeom prst="roundRect">
            <a:avLst>
              <a:gd name="adj" fmla="val 8421"/>
            </a:avLst>
          </a:prstGeom>
          <a:solidFill>
            <a:srgbClr val="161D29"/>
          </a:solidFill>
          <a:ln w="19050">
            <a:solidFill>
              <a:srgbClr val="F2B33D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5141854" y="1691640"/>
            <a:ext cx="190798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묵음 자르기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trim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7095561" y="169164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5" name="Shape 12"/>
          <p:cNvSpPr/>
          <p:nvPr/>
        </p:nvSpPr>
        <p:spPr>
          <a:xfrm>
            <a:off x="7369881" y="1691640"/>
            <a:ext cx="1999427" cy="868680"/>
          </a:xfrm>
          <a:prstGeom prst="roundRect">
            <a:avLst>
              <a:gd name="adj" fmla="val 8421"/>
            </a:avLst>
          </a:prstGeom>
          <a:solidFill>
            <a:srgbClr val="161D29"/>
          </a:solidFill>
          <a:ln w="19050">
            <a:solidFill>
              <a:srgbClr val="B39DF5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415601" y="1691640"/>
            <a:ext cx="190798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B39DF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볼륨 맞추기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normalize</a:t>
            </a:r>
            <a:endParaRPr lang="en-US" sz="1500" dirty="0"/>
          </a:p>
        </p:txBody>
      </p:sp>
      <p:sp>
        <p:nvSpPr>
          <p:cNvPr id="17" name="Text 14"/>
          <p:cNvSpPr txBox="1"/>
          <p:nvPr/>
        </p:nvSpPr>
        <p:spPr>
          <a:xfrm>
            <a:off x="9369308" y="1691640"/>
            <a:ext cx="274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›</a:t>
            </a:r>
            <a:endParaRPr lang="en-US" sz="2000" dirty="0"/>
          </a:p>
        </p:txBody>
      </p:sp>
      <p:sp>
        <p:nvSpPr>
          <p:cNvPr id="18" name="Shape 15"/>
          <p:cNvSpPr/>
          <p:nvPr/>
        </p:nvSpPr>
        <p:spPr>
          <a:xfrm>
            <a:off x="9643628" y="1691640"/>
            <a:ext cx="1999427" cy="868680"/>
          </a:xfrm>
          <a:prstGeom prst="roundRect">
            <a:avLst>
              <a:gd name="adj" fmla="val 8421"/>
            </a:avLst>
          </a:prstGeom>
          <a:solidFill>
            <a:srgbClr val="161D29"/>
          </a:solidFill>
          <a:ln w="19050">
            <a:solidFill>
              <a:srgbClr val="5CC8E0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9689348" y="1691640"/>
            <a:ext cx="1907987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5CC8E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150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PCM_16 WAV</a:t>
            </a:r>
            <a:endParaRPr lang="en-US" sz="1500" dirty="0"/>
          </a:p>
        </p:txBody>
      </p:sp>
      <p:sp>
        <p:nvSpPr>
          <p:cNvPr id="20" name="Shape 17"/>
          <p:cNvSpPr/>
          <p:nvPr/>
        </p:nvSpPr>
        <p:spPr>
          <a:xfrm>
            <a:off x="548640" y="2788920"/>
            <a:ext cx="7315200" cy="2011680"/>
          </a:xfrm>
          <a:prstGeom prst="roundRect">
            <a:avLst>
              <a:gd name="adj" fmla="val 3636"/>
            </a:avLst>
          </a:prstGeom>
          <a:solidFill>
            <a:srgbClr val="0B0F15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777240" y="2971800"/>
            <a:ext cx="6858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make_model_ready(src, dst="ready.wav"):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y, sr = librosa.load(src, sr=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, mono=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____</a:t>
            </a:r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y, _ = librosa.effects.trim(y, top_db=30)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 = y / (np.abs(y).max() + 1e-9) * 0.9</a:t>
            </a:r>
            <a:endParaRPr lang="en-US" sz="125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50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sf.write(dst, y, sr, subtype="PCM_16")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8138160" y="2788920"/>
            <a:ext cx="3502152" cy="2011680"/>
          </a:xfrm>
          <a:prstGeom prst="roundRect">
            <a:avLst>
              <a:gd name="adj" fmla="val 3636"/>
            </a:avLst>
          </a:prstGeom>
          <a:solidFill>
            <a:srgbClr val="161D29"/>
          </a:solidFill>
          <a:ln w="15875">
            <a:solidFill>
              <a:srgbClr val="4FD1B5"/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8339328" y="2953512"/>
            <a:ext cx="309981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4FD1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🧩 빈칸 실습 7</a:t>
            </a:r>
            <a:endParaRPr lang="en-US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8339328" y="3419856"/>
            <a:ext cx="309981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sr=16000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mono=True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webm, m4a는 ffmpeg로 먼저 wav 변환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548640" y="5074920"/>
            <a:ext cx="4937760" cy="438912"/>
          </a:xfrm>
          <a:prstGeom prst="roundRect">
            <a:avLst>
              <a:gd name="adj" fmla="val 16667"/>
            </a:avLst>
          </a:prstGeom>
          <a:solidFill>
            <a:srgbClr val="3A2E12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731520" y="5074920"/>
            <a:ext cx="46634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▶  애니메이션  </a:t>
            </a:r>
            <a:pPr indent="0" marL="0">
              <a:buNone/>
            </a:pPr>
            <a:r>
              <a:rPr lang="en-US" sz="1300" u="sng" dirty="0">
                <a:solidFill>
                  <a:srgbClr val="F7D58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  <a:hlinkClick r:id="rId1" invalidUrl="" action="" tgtFrame="" tooltip="animation.html 열기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D2-9 전처리 파이프라인 (단계별 정보 카드)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2.6 · 전처리 결과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입력은 제각각, 출력은 하나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graphicFrame>
        <p:nvGraphicFramePr>
          <p:cNvPr id="2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4206240"/>
                <a:gridCol w="548640"/>
                <a:gridCol w="423367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파일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입력 정보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출력 정보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speech_hq.wav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44100 Hz · 2ch · PCM_16 · 1033.7 KB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16000 Hz · 1ch · PCM_16 · 185.0 KB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speech.mp3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24000 Hz · 1ch · MP3 · 23.9 KB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16000 Hz · 1ch · PCM_16 · 185.0 KB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stereo.wav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16000 Hz · 2ch · PCM_16 · 125.0 KB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16000 Hz · 1ch · PCM_16 · 62.5 KB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f.flac</a:t>
                      </a:r>
                      <a:endParaRPr lang="en-US" sz="125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16000 Hz · 1ch · PCM_16 · 53.9 KB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→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16000 Hz · 1ch · PCM_16 · 185.0 KB</a:t>
                      </a:r>
                      <a:endParaRPr lang="en-US" sz="125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44348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출력 열이 모두 같은 형식이다. 과제 1: 휴대폰 녹음(m4a)으로 직접 해 보기</a:t>
            </a:r>
            <a:endParaRPr lang="en-US" sz="135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489204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노트북 실행 예시. 크기와 길이는 음성에 따라 다르다.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2.6 · Colab에서 알아 둘 점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만날 수 있는 오류와 해결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4023360"/>
                <a:gridCol w="3474720"/>
                <a:gridCol w="3593592"/>
              </a:tblGrid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증상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해결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 module named 'audioop' (pyaudioop)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Python 3.13에서 audioop 제거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pip install audioop-lts (설치 셀에 포함)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webm 녹음 파일을 librosa가 못 읽음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librosa가 webm 형식을 직접 못 읽음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ffmpeg로 먼저 wav 변환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진폭을 바꿔도 소리 크기가 같음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Audio()가 크기를 자동으로 맞춤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Audio(..., normalize=False)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stereo 저장이 이상하거나 오류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librosa (2, N) 모양 그대로 저장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sf.write(f, stereo.T, sr)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5120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저장한 소리가 느리고 낮음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sr 숫자만 바꿔 저장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librosa.resample()로 먼저 변환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120640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소리가 이상하면 먼저 확인할 세 가지: 샘플링 레이트, 채널 수, 배열 모양</a:t>
            </a:r>
            <a:endParaRPr lang="en-US" sz="13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2.6 · 수식으로 정리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오늘의 원리를 여섯 줄로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691640"/>
          <a:ext cx="11094415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3840480"/>
                <a:gridCol w="2743200"/>
                <a:gridCol w="2496312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원리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수식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예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5CC8E0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노트북 검증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433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사인파 · 데시벨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x[n] = A·sin(2πfn / fs)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 = 20·log10(A1 / A0)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진폭 2배 → +6.02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RMS = A/√2 일치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샘플링 정리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 = fs · T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f_max &lt; fs / 2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 kHz → 8 kHz까지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N_new = 96,000 일치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Aliasing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f_alias = | f − k·fs |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7,000 Hz @11,025 → 4,025 Hz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건너뛰기 측정 4,025 Hz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양자화 잡음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L = 2^b,  Δ ≈ 2^(1−b)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SNR ≈ 6.02·b + 1.76 dB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16bit ≈ 98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측정 98.1 dB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비트레이트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R = fs · b · C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bytes = fs · b/8 · C · T + 44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256 kbps → MP3 64k = 4배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크기 예측 ±2 KB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D29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dB 이득 · 정규화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g = 10^(G/20)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F2B33D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y' = 0.9 · y / max|y|</a:t>
                      </a:r>
                      <a:endParaRPr lang="en-US" sz="12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+6 dB → ×1.995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E6EAF2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pydub 측정 1.995</a:t>
                      </a:r>
                      <a:endParaRPr lang="en-US" sz="12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109728" marR="109728" marT="64008" marB="64008" anchor="ctr">
                    <a:lnL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2A334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8202D"/>
                    </a:solidFill>
                  </a:tcPr>
                </a:tc>
              </a:tr>
            </a:tbl>
          </a:graphicData>
        </a:graphic>
      </p:graphicFrame>
      <p:sp>
        <p:nvSpPr>
          <p:cNvPr id="7" name="Text 3"/>
          <p:cNvSpPr txBox="1"/>
          <p:nvPr/>
        </p:nvSpPr>
        <p:spPr>
          <a:xfrm>
            <a:off x="548640" y="5715000"/>
            <a:ext cx="110944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측정값은 노트북 실행 예시 기준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1151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47472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정리 · 다음 시간 Day 3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13232"/>
            <a:ext cx="11094415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주파수 분석: 스펙트로그램은 어떻게 만들어질까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7071055" y="640080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C667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음성 AI 전문가 과정 · Day 2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48640" y="1764792"/>
            <a:ext cx="237744" cy="237744"/>
          </a:xfrm>
          <a:prstGeom prst="rect">
            <a:avLst/>
          </a:prstGeom>
          <a:solidFill>
            <a:srgbClr val="11151C"/>
          </a:solidFill>
          <a:ln w="12700">
            <a:solidFill>
              <a:srgbClr val="9AA4B5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60120" y="16916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tone()으로 880 Hz 소리를 만들어 들었다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548640" y="2221992"/>
            <a:ext cx="237744" cy="237744"/>
          </a:xfrm>
          <a:prstGeom prst="rect">
            <a:avLst/>
          </a:prstGeom>
          <a:solidFill>
            <a:srgbClr val="11151C"/>
          </a:solidFill>
          <a:ln w="12700">
            <a:solidFill>
              <a:srgbClr val="9AA4B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960120" y="21488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건너뛰기와 resample의 차이를 소리로 구분했다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9192"/>
            <a:ext cx="237744" cy="237744"/>
          </a:xfrm>
          <a:prstGeom prst="rect">
            <a:avLst/>
          </a:prstGeom>
          <a:solidFill>
            <a:srgbClr val="11151C"/>
          </a:solidFill>
          <a:ln w="12700">
            <a:solidFill>
              <a:srgbClr val="9AA4B5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960120" y="26060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PCM_16으로 저장하고 sf.info로 확인했다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548640" y="3136392"/>
            <a:ext cx="237744" cy="237744"/>
          </a:xfrm>
          <a:prstGeom prst="rect">
            <a:avLst/>
          </a:prstGeom>
          <a:solidFill>
            <a:srgbClr val="11151C"/>
          </a:solidFill>
          <a:ln w="12700">
            <a:solidFill>
              <a:srgbClr val="9AA4B5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960120" y="30632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stereo를 mono로 합치고 모양을 확인했다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593592"/>
            <a:ext cx="237744" cy="237744"/>
          </a:xfrm>
          <a:prstGeom prst="rect">
            <a:avLst/>
          </a:prstGeom>
          <a:solidFill>
            <a:srgbClr val="11151C"/>
          </a:solidFill>
          <a:ln w="12700">
            <a:solidFill>
              <a:srgbClr val="9AA4B5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960120" y="35204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WAV, FLAC, MP3, Opus의 크기와 차이를 비교했다</a:t>
            </a:r>
            <a:endParaRPr lang="en-US" sz="1400" dirty="0"/>
          </a:p>
        </p:txBody>
      </p:sp>
      <p:sp>
        <p:nvSpPr>
          <p:cNvPr id="16" name="Shape 13"/>
          <p:cNvSpPr/>
          <p:nvPr/>
        </p:nvSpPr>
        <p:spPr>
          <a:xfrm>
            <a:off x="548640" y="4050792"/>
            <a:ext cx="237744" cy="237744"/>
          </a:xfrm>
          <a:prstGeom prst="rect">
            <a:avLst/>
          </a:prstGeom>
          <a:solidFill>
            <a:srgbClr val="11151C"/>
          </a:solidFill>
          <a:ln w="12700">
            <a:solidFill>
              <a:srgbClr val="9AA4B5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960120" y="3977640"/>
            <a:ext cx="6400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make_model_ready()로 여러 파일을 변환했다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7635240" y="1691640"/>
            <a:ext cx="4005072" cy="2606040"/>
          </a:xfrm>
          <a:prstGeom prst="roundRect">
            <a:avLst>
              <a:gd name="adj" fmla="val 2807"/>
            </a:avLst>
          </a:prstGeom>
          <a:solidFill>
            <a:srgbClr val="1E1A10"/>
          </a:solidFill>
          <a:ln w="15875">
            <a:solidFill>
              <a:srgbClr val="F2B33D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7836408" y="1856232"/>
            <a:ext cx="36027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F2B33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다음: Day 3</a:t>
            </a:r>
            <a:endParaRPr lang="en-US" sz="1700" dirty="0"/>
          </a:p>
        </p:txBody>
      </p:sp>
      <p:sp>
        <p:nvSpPr>
          <p:cNvPr id="20" name="Text 17"/>
          <p:cNvSpPr txBox="1"/>
          <p:nvPr/>
        </p:nvSpPr>
        <p:spPr>
          <a:xfrm>
            <a:off x="7836408" y="2322576"/>
            <a:ext cx="3602736" cy="18379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오늘 본 그림 한 장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Aliasing 스펙트로그램</a:t>
            </a: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endParaRPr lang="en-US" sz="13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300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 그림은 숫자 배열에서 어떻게 만들어질까? 25ms 창, 10ms hop의 의미는?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48640" y="4617720"/>
            <a:ext cx="3515258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731520" y="4690872"/>
            <a:ext cx="2143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F2B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worksheet.html</a:t>
            </a:r>
            <a:endParaRPr lang="en-US" sz="1300" dirty="0"/>
          </a:p>
        </p:txBody>
      </p:sp>
      <p:sp>
        <p:nvSpPr>
          <p:cNvPr id="23" name="Text 20"/>
          <p:cNvSpPr txBox="1"/>
          <p:nvPr/>
        </p:nvSpPr>
        <p:spPr>
          <a:xfrm>
            <a:off x="2875178" y="46908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40문항</a:t>
            </a:r>
            <a:endParaRPr lang="en-US" sz="1300" dirty="0"/>
          </a:p>
        </p:txBody>
      </p:sp>
      <p:sp>
        <p:nvSpPr>
          <p:cNvPr id="24" name="Text 21"/>
          <p:cNvSpPr txBox="1"/>
          <p:nvPr/>
        </p:nvSpPr>
        <p:spPr>
          <a:xfrm>
            <a:off x="731520" y="5029200"/>
            <a:ext cx="3149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개념 워크시트 · 노션 제출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4338218" y="4617720"/>
            <a:ext cx="3515258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4521098" y="4690872"/>
            <a:ext cx="2143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u="sng" dirty="0">
                <a:solidFill>
                  <a:srgbClr val="5CC8E0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animation.html</a:t>
            </a:r>
            <a:endParaRPr lang="en-US" sz="1300" dirty="0"/>
          </a:p>
        </p:txBody>
      </p:sp>
      <p:sp>
        <p:nvSpPr>
          <p:cNvPr id="27" name="Text 24"/>
          <p:cNvSpPr txBox="1"/>
          <p:nvPr/>
        </p:nvSpPr>
        <p:spPr>
          <a:xfrm>
            <a:off x="6664757" y="46908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9개 탭</a:t>
            </a:r>
            <a:endParaRPr lang="en-US" sz="1300" dirty="0"/>
          </a:p>
        </p:txBody>
      </p:sp>
      <p:sp>
        <p:nvSpPr>
          <p:cNvPr id="28" name="Text 25"/>
          <p:cNvSpPr txBox="1"/>
          <p:nvPr/>
        </p:nvSpPr>
        <p:spPr>
          <a:xfrm>
            <a:off x="4521098" y="5029200"/>
            <a:ext cx="3149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인터랙티브 애니메이션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8127797" y="4617720"/>
            <a:ext cx="3515258" cy="777240"/>
          </a:xfrm>
          <a:prstGeom prst="roundRect">
            <a:avLst>
              <a:gd name="adj" fmla="val 9412"/>
            </a:avLst>
          </a:prstGeom>
          <a:solidFill>
            <a:srgbClr val="161D29"/>
          </a:solidFill>
          <a:ln w="12700">
            <a:solidFill>
              <a:srgbClr val="2A3344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8310677" y="4690872"/>
            <a:ext cx="214365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4FD1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D2_실습.ipynb</a:t>
            </a:r>
            <a:endParaRPr lang="en-US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10454335" y="46908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E6EA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빈칸 7</a:t>
            </a:r>
            <a:endParaRPr lang="en-US" sz="1300" dirty="0"/>
          </a:p>
        </p:txBody>
      </p:sp>
      <p:sp>
        <p:nvSpPr>
          <p:cNvPr id="32" name="Text 29"/>
          <p:cNvSpPr txBox="1"/>
          <p:nvPr/>
        </p:nvSpPr>
        <p:spPr>
          <a:xfrm>
            <a:off x="8310677" y="5029200"/>
            <a:ext cx="314949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9AA4B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실습 노트북</a:t>
            </a:r>
            <a:endParaRPr lang="en-US" sz="1150" dirty="0"/>
          </a:p>
        </p:txBody>
      </p:sp>
      <p:sp>
        <p:nvSpPr>
          <p:cNvPr id="33" name="Text 30"/>
          <p:cNvSpPr txBox="1"/>
          <p:nvPr/>
        </p:nvSpPr>
        <p:spPr>
          <a:xfrm>
            <a:off x="548640" y="553212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AA4B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온라인 자료  </a:t>
            </a:r>
            <a:pPr indent="0" marL="0">
              <a:buNone/>
            </a:pPr>
            <a:r>
              <a:rPr lang="en-US" sz="1100" u="sng" dirty="0">
                <a:solidFill>
                  <a:srgbClr val="E6EAF2"/>
                </a:solidFill>
                <a:latin typeface="Consolas" pitchFamily="34" charset="0"/>
                <a:ea typeface="Consolas" pitchFamily="34" charset="-122"/>
                <a:cs typeface="Consolas" pitchFamily="34" charset="-120"/>
                <a:hlinkClick r:id="rId3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imguru-mooc.github.io/AI_Voice/day02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D2 디지털 오디오 기초</dc:title>
  <dc:subject>PptxGenJS Presentation</dc:subject>
  <dc:creator>PptxGenJS</dc:creator>
  <cp:lastModifiedBy>PptxGenJS</cp:lastModifiedBy>
  <cp:revision>1</cp:revision>
  <dcterms:created xsi:type="dcterms:W3CDTF">2026-10-07T03:38:58Z</dcterms:created>
  <dcterms:modified xsi:type="dcterms:W3CDTF">2026-10-07T03:38:58Z</dcterms:modified>
</cp:coreProperties>
</file>