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어제 데이터를 손질했고 오늘은 드디어 학습입니다. Whisper small 전체(2.4억 파라미터)를 Zeroth 한국어 데이터로 300 step 학습하고, 학습 전 · 후 CER을 비교합니다. 오른쪽은 학습 기록 모양의 예시입니다.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여섯 질문에 한 문장씩 답할 수 있고, 학습 전 · 후 CER 표를 만들면 오늘 목표 달성입니다.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T4 GPU 런타임 필수. 3교시 학습 셀이 20~30분 걸리므로, 3교시 시작 10분 안에 학습 셀을 실행하게 하고 그동안 메모리 · 학습률 이야기를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방식을 비교하고 오늘은 Full Fine-tuning. Encoder 고정은 과제, LoRA는 D13입니다. catastrophic forgetting을 꼭 짚어 주세요: 그래서 학습률이 아주 작습니다.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decoder 입력은 labels를 한 칸 오른쪽으로 민 것. 모델이 labels만 받으면 이 밀기를 안에서 자동으로 합니다. 학습과 실제 생성의 차이(노출 편향)는 eval loss와 CER이 다르게 움직이는 이유입니다.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D11 ko_asr_prepared는 Zeroth 시험 세트를 연습용으로 섞었으므로 오늘 평가에 쓰면 누수입니다. 학습은 Zeroth 학습 세트(시험 세트와 화자가 겹치지 않음)에서 스트리밍으로 가져옵니다.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2,000개 × 80 × 3000 × 4바이트 ≈ 2 GB. 미리 저장하지 않고 꺼낼 때 만들면 디스크 · 메모리를 아낍니다. 대신 remove_unused_columns=False가 꼭 필요합니다.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Whisper pad 토큰 = &lt;|endoftext|&gt;. −100으로 바꾸지 않으면 "끝 토큰을 계속 내라"를 배웁니다. 시작 토큰은 모델이 decoder 입력에 다시 붙이므로 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빈칸 1은 −100, 빈칸 2는 self.decoder_start_token_id. 출력의 "−100 개수"에서 가장 긴 샘플은 0개인 것을 확인시키세요.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predict_with_generate=True일 때 Trainer가 생성 결과를 넘겨 줍니다. 정규화 없이 재면 Whisper가 붙인 마침표 때문에 학습 전 CER이 실제보다 나빠 보입니다.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accepts_loss_kwargs = False: transformers 5.x에서 Whisper + gradient accumulation이면 두 묶음 loss를 평균 내지 않고 더해, 기록 loss가 약 2배이고 실제로도 학습률 2배 효과가 납니다. 이 줄로 Trainer가 평균을 냅니다. 같은 설정에서 batch 16×1과 8×2의 가중치 변화량이 같아지는 것을 확인했습니다.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너무 크면 loss가 튀고 원래 실력을 잊고, 너무 작으면 거의 변하지 않습니다. warmup은 초반 큰 흔들림을 막습니다. 애니메이션으로 1e-3, 1e-5, 1e-7을 비교해 보세요.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Fine-tuning: 학습 파라미터 하나당 기울기 4바이트 + Adam 8바이트. activation은 batch에 비례. OOM이면 batch↓ accum↑, gradient_checkpointing, freeze_encoder, LoRA 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output_dir에 체크포인트와 TensorBoard 기록이 쌓입니다. eval_steps = save_steps로 맞춰야 load_best_model_at_end가 동작합니다.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transformers 5.x에서는 tokenizer= 대신 processing_class=. 학습 전 evaluate()로 baseline CER을 먼저 잽니다. 결과 키에 eval_ 접두사가 붙습니다.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학습이 도는 동안 애니메이션 D12-7로 step 안을 보여 주세요. OOM이 나면 batch 4 × accum 4. 학습 끝 출력의 best_model_checkpoint와 GPU 최대 메모리를 메모해 두게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곡선 모양 네 가지를 짚고 애니메이션 D12-9로 퀴즈를 내 보세요. 오늘처럼 짧은 학습에서는 과적합보다 "아직 더 내려갈 수 있음"이 흔합니다.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TensorBoard 기록 위치는 환경 변수 TENSORBOARD_LOGGING_DIR로 정했습니다(transformers 5.x에서 logging_dir 인자 대신). W&amp;B는 API 키가 있을 때만 USE_WANDB=True.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좋아진 부분 중 상당수는 띄어쓰기 · 문장 부호 · 숫자 표기 같은 데이터셋 받아쓰기 규칙입니다. 다른 도메인 · 영어에서 나빠졌는지도 D14에서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체크리스트로 마무리하고 워크시트 4교시 탭까지 채점한 뒤 노션에 캡처해 제출하게 합니다. 학습 전 · 후 CER 표도 함께 붙이게 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12/animation.html#flow" TargetMode="Externa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12/animation.html#finetune" TargetMode="External"/><Relationship Id="rId1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12/animation.html#teacher" TargetMode="Externa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12/animation.html#collator" TargetMode="Externa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12/animation.html#metrics" TargetMode="External"/><Relationship Id="rId1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12/animation.html#lr" TargetMode="External"/><Relationship Id="rId1" Type="http://schemas.openxmlformats.org/officeDocument/2006/relationships/image" Target="../media/image-1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12/animation.html#memory" TargetMode="External"/><Relationship Id="rId1" Type="http://schemas.openxmlformats.org/officeDocument/2006/relationships/image" Target="../media/image-1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hyperlink" Target="https://imguru-mooc.github.io/AI_Voice/day12/animation.html#loop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12/animation.html#curves" TargetMode="External"/><Relationship Id="rId1" Type="http://schemas.openxmlformats.org/officeDocument/2006/relationships/image" Target="../media/image-1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hyperlink" Target="https://imguru-mooc.github.io/AI_Voice/day12/animation.htm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12 / 40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12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Whisper Full Fine-tuning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Seq2SeqTrainer · Data Collator · 모니터링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393192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Teacher forcing → Zeroth 학습 데이터 → Data Collator(−100) → compute_metrics(CER) → 학습 설정 · Trainer → TensorBoard 곡선 → 전 · 후 비교 · 저장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3주차 M3 · 4시간 · T4 GPU · 실습 노트북 Part 0 ~ 8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92240" y="1005840"/>
            <a:ext cx="5120640" cy="3017520"/>
          </a:xfrm>
          <a:prstGeom prst="roundRect">
            <a:avLst>
              <a:gd name="adj" fmla="val 1818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56832" y="1078992"/>
            <a:ext cx="4791456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{'loss': 0.62, 'learning_rate': 1e-05, 'epoch': 0.8}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{'eval_loss': 0.41, 'eval_cer': 9.8}   # step 100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{'eval_loss': 0.35, 'eval_cer': 7.1}   # step 200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{'eval_loss': 0.36, 'eval_cer': 7.4}   # step 300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CER 학습 전 12.4% → 학습 후 7.1%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best: checkpoint-200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pipeline("automatic-speech-recognition",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model="whisper-small-ko/final")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92240" y="4069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 모양 예시 · 숫자는 GPU · 데이터 · 무작위성에 따라 다릅니다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 · 오늘 답할 질문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똑똑한 Whisper를 어떻게 우리 데이터로 더 가르치나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12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146304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88720" y="146304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Fine-tuning은 무엇이고, Whisper는 무엇을 맞히며 배우나?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0180015" y="146304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1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2176272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2176272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188720" y="2176272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길이가 다른 샘플을 어떻게 한 묶음으로 만드나? 왜 −100인가?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10180015" y="217627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2 ~ 3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2889504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1520" y="2889504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188720" y="2889504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중 점수(CER)는 어떻게 매기나?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10180015" y="2889504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4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48640" y="3602736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31520" y="3602736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188720" y="3602736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학습률 · 묶음 크기 · 메모리는 어떻게 정하나?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10180015" y="3602736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5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48640" y="4315968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31520" y="4315968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188720" y="4315968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곡선에서 무엇을 읽어 내나?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10180015" y="431596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6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48640" y="5029200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31520" y="502920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1188720" y="502920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학습이 정말 도움이 됐는지 어떻게 확인하고 저장하나?</a:t>
            </a:r>
            <a:endParaRPr lang="en-US" sz="1450" dirty="0"/>
          </a:p>
        </p:txBody>
      </p:sp>
      <p:sp>
        <p:nvSpPr>
          <p:cNvPr id="29" name="Text 26"/>
          <p:cNvSpPr/>
          <p:nvPr/>
        </p:nvSpPr>
        <p:spPr>
          <a:xfrm>
            <a:off x="10180015" y="502920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7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 · 오늘의 흐름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→ 부품 → 학습 → 곡선 → 비교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12</a:t>
            </a:r>
            <a:endParaRPr lang="en-US" sz="900" dirty="0"/>
          </a:p>
        </p:txBody>
      </p:sp>
      <p:pic>
        <p:nvPicPr>
          <p:cNvPr id="6" name="Image 0" descr="/home/claude/d12/build/fig_dark/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074" y="1325880"/>
            <a:ext cx="10093546" cy="2926080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434840"/>
          <a:ext cx="11094415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6766560"/>
                <a:gridCol w="3227832"/>
              </a:tblGrid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실습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1교시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Fine-tuning 개념, Teacher forcing, Zeroth 학습 데이터 · set_transform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 0 ~ 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2교시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Data Collator(−100), compute_metrics(CER), 학습 전 받아쓰기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 3 ~ 4 · 빈칸 1 ~ 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3교시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학습률 · 메모리, TrainingArguments, Trainer, 🚀 학습 실행 (20~30분)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 5 · 빈칸 6 ~ 8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4교시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TensorBoard 곡선 읽기, 전 · 후 비교, 저장 · pipeline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 6 ~ 8 · 빈칸 9 · 노션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7982712" y="347472"/>
            <a:ext cx="3657600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8119872" y="34747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D12-1 오늘의 흐름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1.1 · Fine-tuning이란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수십만 시간 공부한 모델에게 우리 분야 과외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12</a:t>
            </a:r>
            <a:endParaRPr lang="en-US" sz="900" dirty="0"/>
          </a:p>
        </p:txBody>
      </p:sp>
      <p:pic>
        <p:nvPicPr>
          <p:cNvPr id="6" name="Image 0" descr="/home/claude/d12/build/fig_dark/finetu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9844" y="1325880"/>
            <a:ext cx="9052007" cy="28346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343400"/>
            <a:ext cx="6766560" cy="1371600"/>
          </a:xfrm>
          <a:prstGeom prst="roundRect">
            <a:avLst>
              <a:gd name="adj" fmla="val 5333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13232" y="4434840"/>
            <a:ext cx="64373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🍎 경력직 신입사원 교육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 잘하는 경력직(Whisper)에게 회사 용어 · 업무 방식(우리 데이터)을 며칠 가르친다. 너무 세게 가르치면 원래 알던 것을 잊는다 → 학습률을 아주 작게.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7589520" y="4343400"/>
            <a:ext cx="4050792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726680" y="4343400"/>
            <a:ext cx="3776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D12-2 Fine-tuning 방식 비교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7589520" y="4892040"/>
            <a:ext cx="4050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C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오늘: whisper-small 2.4억 개 전부 학습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1.2 · Teacher forcing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Decoder는 정답 앞부분을 보고 다음 토큰을 맞힌다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12</a:t>
            </a:r>
            <a:endParaRPr lang="en-US" sz="900" dirty="0"/>
          </a:p>
        </p:txBody>
      </p:sp>
      <p:pic>
        <p:nvPicPr>
          <p:cNvPr id="6" name="Image 0" descr="/home/claude/d12/build/fig_dark/tea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2127" y="1325880"/>
            <a:ext cx="8407442" cy="29260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434840"/>
            <a:ext cx="5852160" cy="1005840"/>
          </a:xfrm>
          <a:prstGeom prst="roundRect">
            <a:avLst>
              <a:gd name="adj" fmla="val 7273"/>
            </a:avLst>
          </a:prstGeom>
          <a:solidFill>
            <a:srgbClr val="161D29"/>
          </a:solidFill>
          <a:ln w="15875">
            <a:solidFill>
              <a:srgbClr val="5CC8E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13232" y="4507992"/>
            <a:ext cx="55229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5C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📐 핵심 식 하나: loss = 평균( −log P(정답 토큰) 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확률 1 → 0 · 0.5 → 0.69 · 0.1 → 2.3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6675120" y="4434840"/>
            <a:ext cx="4965192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812280" y="4434840"/>
            <a:ext cx="4690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D12-3 Teacher forcing과 loss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6675120" y="4983480"/>
            <a:ext cx="4965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생성: 자기 예측이 다음 입력 → 틀리면 번짐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2.1 · 데이터 준비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Zeroth 학습 세트 2,000개 + 공식 시험 세트 100개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12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6949440" cy="3017520"/>
          </a:xfrm>
          <a:prstGeom prst="roundRect">
            <a:avLst>
              <a:gd name="adj" fmla="val 1818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1444752"/>
            <a:ext cx="6620256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 = load_dataset("kresnik/zeroth_korean", split="train",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streaming=True).cast_column("audio", HFAudio(decode=False))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train_rows, _ = collect(stream, 2000)       # 빈 전사 · 30초 초과 제외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test_all = load_dataset("kresnik/zeroth_korean", split="test")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pick = test_all.shuffle(seed=0).select(range(200))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test_rows, _ = collect(pick, 100)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겹치는 화자: 없음 ✓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0" y="1371600"/>
          <a:ext cx="3867912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463040"/>
                <a:gridCol w="149047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쓰임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train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2,000 (≈4.6h)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test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평가 · 비교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7772400" y="2743200"/>
            <a:ext cx="3867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평가 데이터는 학습에 절대 섞지 않기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548640" y="45720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💬 쉽게 말하면  </a:t>
            </a:r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D11 방식 그대로: 바이트로 받아 soundfile로 읽고, 16 kHz 모노로 맞추고, 품질 필터.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2.2 · set_transform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특징은 꺼낼 때마다 만든다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12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6949440" cy="2377440"/>
          </a:xfrm>
          <a:prstGeom prst="roundRect">
            <a:avLst>
              <a:gd name="adj" fmla="val 2308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1444752"/>
            <a:ext cx="662025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prepare_batch(batch):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feats = processor.feature_extractor(batch["audio"],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sampling_rate=SR).input_features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labels = [processor.tokenizer(t).input_ids for t in batch["text"]]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{"input_features": feats, "labels": labels}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train_ds.set_transform(prepare_batch)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0" y="1371600"/>
          <a:ext cx="386791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188720"/>
                <a:gridCol w="103327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디스크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map + 저장 (D11)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미리 한 번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많이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set_transform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꺼낼 때마다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거의 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48640" y="3977640"/>
            <a:ext cx="11094415" cy="1097280"/>
          </a:xfrm>
          <a:prstGeom prst="roundRect">
            <a:avLst>
              <a:gd name="adj" fmla="val 6667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13232" y="4050792"/>
            <a:ext cx="10765231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remove_unused_columns=False는 왜?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Trainer는 모델 forward가 받지 않는 열(audio, text)을 미리 지운다 → transform이 받을 재료가 사라짐 → 열 지우기를 끈다.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3.1 · Data Collator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길이가 다른 labels를 채우고, 채운 칸은 −100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12</a:t>
            </a:r>
            <a:endParaRPr lang="en-US" sz="900" dirty="0"/>
          </a:p>
        </p:txBody>
      </p:sp>
      <p:pic>
        <p:nvPicPr>
          <p:cNvPr id="6" name="Image 0" descr="/home/claude/d12/build/fig_dark/colla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3851" y="1325880"/>
            <a:ext cx="9283992" cy="30175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526280"/>
            <a:ext cx="6766560" cy="1234440"/>
          </a:xfrm>
          <a:prstGeom prst="roundRect">
            <a:avLst>
              <a:gd name="adj" fmla="val 5926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13232" y="4617720"/>
            <a:ext cx="64373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🍎 시험지 채점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문항 수가 다른 시험지를 한 묶음으로 채점기에 넣으려고 빈칸을 덧붙였다면, 그 빈칸에는 "채점 제외" 도장(−100)을 찍는다.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7589520" y="4526280"/>
            <a:ext cx="4050792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726680" y="4526280"/>
            <a:ext cx="3776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D12-4 Data Collator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3.2 · Collator 코드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소리는 쌓고, 글자는 채우고, −100, 시작 토큰 빼기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12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7498080" cy="3291840"/>
          </a:xfrm>
          <a:prstGeom prst="roundRect">
            <a:avLst>
              <a:gd name="adj" fmla="val 1667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1444752"/>
            <a:ext cx="7168896" cy="3145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__call__(self, features):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audio = [{"input_features": f["input_features"]} for f in features]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batch = self.processor.feature_extractor.pad(audio, return_tensors="pt")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lab = [{"input_ids": f["labels"]} for f in features]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lab_batch = self.processor.tokenizer.pad(lab, return_tensors="pt")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labels = lab_batch["input_ids"].masked_fill(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lab_batch.attention_mask.ne(1), -100)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(labels[:, 0] == self.decoder_start_token_id).all().cpu().item():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labels = labels[:, 1:]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batch["labels"] = labels; return batch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8321040" y="1371600"/>
            <a:ext cx="3319272" cy="777240"/>
          </a:xfrm>
          <a:prstGeom prst="roundRect">
            <a:avLst>
              <a:gd name="adj" fmla="val 7059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458200" y="1444752"/>
            <a:ext cx="304495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1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ne(1), ____  → -100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321040" y="2286000"/>
            <a:ext cx="3319272" cy="777240"/>
          </a:xfrm>
          <a:prstGeom prst="roundRect">
            <a:avLst>
              <a:gd name="adj" fmla="val 7059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458200" y="2359152"/>
            <a:ext cx="304495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2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== ____  → self.decoder_start_token_id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321040" y="3200400"/>
            <a:ext cx="3319272" cy="1463040"/>
          </a:xfrm>
          <a:prstGeom prst="roundRect">
            <a:avLst>
              <a:gd name="adj" fmla="val 3750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485632" y="3273552"/>
            <a:ext cx="2990088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{'input_features': (4, 80, 3000),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'labels': (4, 23)}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−100 개수: [0, 9, 8, 2]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4.1 · compute_metrics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 토큰 → 글자 → 정규화 → CER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12</a:t>
            </a:r>
            <a:endParaRPr lang="en-US" sz="900" dirty="0"/>
          </a:p>
        </p:txBody>
      </p:sp>
      <p:pic>
        <p:nvPicPr>
          <p:cNvPr id="6" name="Image 0" descr="/home/claude/d12/build/fig_dark/evallo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2653" y="1325880"/>
            <a:ext cx="7986388" cy="21945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3657600"/>
            <a:ext cx="7315200" cy="2011680"/>
          </a:xfrm>
          <a:prstGeom prst="roundRect">
            <a:avLst>
              <a:gd name="adj" fmla="val 2727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13232" y="3730752"/>
            <a:ext cx="6986016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compute_metrics(pred):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label_ids = pred.label_ids.copy()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label_ids[label_ids == -100] = processor.tokenizer.pad_token_id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dec = lambda ids: processor.batch_decode(ids, skip_special_tokens=True)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pred_str = [normalize(s) for s in dec(pred.predictions)]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label_str = [normalize(s) for s in dec(label_ids)]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{"cer": 100 * jiwer.cer(label_str, pred_str)}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8138160" y="3657600"/>
            <a:ext cx="3502152" cy="731520"/>
          </a:xfrm>
          <a:prstGeom prst="roundRect">
            <a:avLst>
              <a:gd name="adj" fmla="val 7500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275320" y="3730752"/>
            <a:ext cx="32278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3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____  → processor.tokenizer.pad_token_id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8138160" y="4480560"/>
            <a:ext cx="3502152" cy="731520"/>
          </a:xfrm>
          <a:prstGeom prst="roundRect">
            <a:avLst>
              <a:gd name="adj" fmla="val 7500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275320" y="4553712"/>
            <a:ext cx="32278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4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jiwer.cer(____, pred_str)  → label_str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7982712" y="347472"/>
            <a:ext cx="3657600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119872" y="34747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D12-8 예측 → CER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4.2 · 모델 · 생성 설정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 받아쓰기로 고정, 그리고 accum 함정 하나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12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7315200" cy="2194560"/>
          </a:xfrm>
          <a:prstGeom prst="roundRect">
            <a:avLst>
              <a:gd name="adj" fmla="val 2500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1444752"/>
            <a:ext cx="6986016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WhisperForConditionalGeneration.from_pretrained("openai/whisper-small")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model.generation_config.language = "korean"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model.generation_config.task = "transcribe"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model.accepts_loss_kwargs = False   # accum 때 loss 평균 보장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 = model(input_features=b["input_features"], labels=b["labels"])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out.loss  # 학습 전 teacher forcing loss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8138160" y="1371600"/>
            <a:ext cx="3502152" cy="731520"/>
          </a:xfrm>
          <a:prstGeom prst="roundRect">
            <a:avLst>
              <a:gd name="adj" fmla="val 7500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75320" y="1444752"/>
            <a:ext cx="32278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5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language = ____  → "korean"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38160" y="2286000"/>
          <a:ext cx="3502152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914400"/>
                <a:gridCol w="112471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accum 처리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기록 loss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 효과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기본 (5.x)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≈ 2배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lr × 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accepts_loss_kwargs=False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548640" y="37947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💬 쉽게 말하면  </a:t>
            </a:r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전에 같은 문장 5개를 받아써 두어야 학습 후 나란히 비교할 수 있다 (baseline).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4389120"/>
            <a:ext cx="7315200" cy="1188720"/>
          </a:xfrm>
          <a:prstGeom prst="roundRect">
            <a:avLst>
              <a:gd name="adj" fmla="val 4615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13232" y="4462272"/>
            <a:ext cx="698601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 = transcribe(model, test_rows)   # model.generate(..., language="korean")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정답: 선생님께서 오늘 수업을 일찍 마치셨습니다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학습 전: 선생님께서 오늘 수업을 일찍 마치셨습니다.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5.1 · 학습률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사전학습 모델은 아주 작게 고친다: 1e-5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12</a:t>
            </a:r>
            <a:endParaRPr lang="en-US" sz="900" dirty="0"/>
          </a:p>
        </p:txBody>
      </p:sp>
      <p:pic>
        <p:nvPicPr>
          <p:cNvPr id="6" name="Image 0" descr="/home/claude/d12/build/fig_dark/l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6374" y="1325880"/>
            <a:ext cx="9438947" cy="2651760"/>
          </a:xfrm>
          <a:prstGeom prst="rect">
            <a:avLst/>
          </a:prstGeom>
        </p:spPr>
      </p:pic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160520"/>
          <a:ext cx="73152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0233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1e-3 (처음부터 학습 수준)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loss 튐 · 원래 실력 잊음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1e-5 (오늘)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loss ↓ · 원래 실력 대부분 유지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1e-7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거의 변하지 않음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8138160" y="4160520"/>
            <a:ext cx="3502152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8275320" y="4160520"/>
            <a:ext cx="3227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D12-5 학습률 실험실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5.2 · GPU 메모리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가중치보다 기울기 + Adam + activation이 크다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12</a:t>
            </a:r>
            <a:endParaRPr lang="en-US" sz="900" dirty="0"/>
          </a:p>
        </p:txBody>
      </p:sp>
      <p:pic>
        <p:nvPicPr>
          <p:cNvPr id="6" name="Image 0" descr="/home/claude/d12/build/fig_dark/mem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1818" y="1325880"/>
            <a:ext cx="9828060" cy="28346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343400"/>
            <a:ext cx="6766560" cy="1371600"/>
          </a:xfrm>
          <a:prstGeom prst="roundRect">
            <a:avLst>
              <a:gd name="adj" fmla="val 5333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13232" y="4434840"/>
            <a:ext cx="64373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🍎 국을 두 번 나눠 끓이기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큰 냄비(GPU)가 없어 국을 두 번에 나눠 끓인 뒤 한 솥에 합쳐 간을 본다 = gradient accumulation. 맛(학습 효과)은 큰 냄비 한 번과 거의 같다.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7589520" y="4343400"/>
            <a:ext cx="4050792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726680" y="4343400"/>
            <a:ext cx="3776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D12-6 GPU 메모리 계산기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5.3 · Seq2SeqTrainingArguments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계획표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12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6949440" cy="4206240"/>
          </a:xfrm>
          <a:prstGeom prst="roundRect">
            <a:avLst>
              <a:gd name="adj" fmla="val 1304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1444752"/>
            <a:ext cx="6620256" cy="4059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args = Seq2SeqTrainingArguments(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output_dir="whisper-small-ko",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per_device_train_batch_size=8, gradient_accumulation_steps=2,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learning_rate=1e-5, warmup_steps=30, max_steps=300,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fp16=True,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eval_strategy="steps", eval_steps=100, save_steps=100,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predict_with_generate=True, generation_max_length=225,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load_best_model_at_end=True, metric_for_best_model="cer",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greater_is_better=False, save_total_limit=2,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remove_unused_columns=False,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report_to=["tensorboard"])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772400" y="1371600"/>
            <a:ext cx="3867912" cy="731520"/>
          </a:xfrm>
          <a:prstGeom prst="roundRect">
            <a:avLst>
              <a:gd name="adj" fmla="val 7500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09560" y="1444752"/>
            <a:ext cx="35935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6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learning_rate=____  → 1e-5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72400" y="2194560"/>
            <a:ext cx="3867912" cy="731520"/>
          </a:xfrm>
          <a:prstGeom prst="roundRect">
            <a:avLst>
              <a:gd name="adj" fmla="val 7500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909560" y="2267712"/>
            <a:ext cx="35935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7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predict_with_generate=____  → True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0" y="3108960"/>
          <a:ext cx="3867912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40487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뜻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 × 2 = 16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 묶음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300 step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4,800 샘플 ≈ 2.4바퀴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fp16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빠르고 메모리 절약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5.4 · Seq2SeqTrainer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계획표대로 학습 · 평가 · 저장을 대신 돌리는 코치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12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6949440" cy="2560320"/>
          </a:xfrm>
          <a:prstGeom prst="roundRect">
            <a:avLst>
              <a:gd name="adj" fmla="val 2143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1444752"/>
            <a:ext cx="6620256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trainer = Seq2SeqTrainer(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model=model, args=args,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train_dataset=train_ds, eval_dataset=test_ds,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data_collator=collator,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compute_metrics=compute_metrics,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processing_class=processor)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 = trainer.evaluate()      # 학습 전 eval_cer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trainer.train()       # 🚀 T4 약 20~30분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772400" y="1371600"/>
            <a:ext cx="3867912" cy="731520"/>
          </a:xfrm>
          <a:prstGeom prst="roundRect">
            <a:avLst>
              <a:gd name="adj" fmla="val 7500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09560" y="1444752"/>
            <a:ext cx="35935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8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data_collator=____  → collator</a:t>
            </a:r>
            <a:endParaRPr lang="en-US" sz="1200" dirty="0"/>
          </a:p>
        </p:txBody>
      </p:sp>
      <p:pic>
        <p:nvPicPr>
          <p:cNvPr id="10" name="Image 0" descr="/home/claude/d12/build/fig_dark/ckp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6666" y="4114800"/>
            <a:ext cx="6698362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5.5 · 학습 실행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step 동안 일어나는 일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12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517904"/>
            <a:ext cx="292608" cy="292608"/>
          </a:xfrm>
          <a:prstGeom prst="ellipse">
            <a:avLst/>
          </a:prstGeom>
          <a:solidFill>
            <a:srgbClr val="5CC8E0"/>
          </a:solidFill>
          <a:ln w="12700">
            <a:solidFill>
              <a:srgbClr val="5CC8E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15179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60120" y="1463040"/>
            <a:ext cx="5989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묶음 8개 꺼내기 (set_transform → 특징 · 토큰)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1975104"/>
            <a:ext cx="292608" cy="292608"/>
          </a:xfrm>
          <a:prstGeom prst="ellipse">
            <a:avLst/>
          </a:prstGeom>
          <a:solidFill>
            <a:srgbClr val="5CC8E0"/>
          </a:solidFill>
          <a:ln w="12700">
            <a:solidFill>
              <a:srgbClr val="5CC8E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1975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60120" y="1920240"/>
            <a:ext cx="5989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Collator: 패딩 · −100 · 텐서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2432304"/>
            <a:ext cx="292608" cy="292608"/>
          </a:xfrm>
          <a:prstGeom prst="ellipse">
            <a:avLst/>
          </a:prstGeom>
          <a:solidFill>
            <a:srgbClr val="5CC8E0"/>
          </a:solidFill>
          <a:ln w="12700">
            <a:solidFill>
              <a:srgbClr val="5CC8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24323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60120" y="2377440"/>
            <a:ext cx="5989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forward (teacher forcing) → loss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48640" y="2889504"/>
            <a:ext cx="292608" cy="292608"/>
          </a:xfrm>
          <a:prstGeom prst="ellipse">
            <a:avLst/>
          </a:prstGeom>
          <a:solidFill>
            <a:srgbClr val="5CC8E0"/>
          </a:solidFill>
          <a:ln w="12700">
            <a:solidFill>
              <a:srgbClr val="5CC8E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28895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960120" y="2834640"/>
            <a:ext cx="5989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backward → 기울기 쌓기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48640" y="3346704"/>
            <a:ext cx="292608" cy="292608"/>
          </a:xfrm>
          <a:prstGeom prst="ellipse">
            <a:avLst/>
          </a:prstGeom>
          <a:solidFill>
            <a:srgbClr val="5CC8E0"/>
          </a:solidFill>
          <a:ln w="12700">
            <a:solidFill>
              <a:srgbClr val="5CC8E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8640" y="33467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960120" y="3291840"/>
            <a:ext cx="5989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2번 모이면 optimizer가 가중치를 조금 고침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48640" y="3803904"/>
            <a:ext cx="292608" cy="292608"/>
          </a:xfrm>
          <a:prstGeom prst="ellipse">
            <a:avLst/>
          </a:prstGeom>
          <a:solidFill>
            <a:srgbClr val="5CC8E0"/>
          </a:solidFill>
          <a:ln w="12700">
            <a:solidFill>
              <a:srgbClr val="5CC8E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48640" y="38039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60120" y="3749040"/>
            <a:ext cx="5989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학습률 갱신 · 기울기 비우기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548640" y="4261104"/>
            <a:ext cx="292608" cy="292608"/>
          </a:xfrm>
          <a:prstGeom prst="ellipse">
            <a:avLst/>
          </a:prstGeom>
          <a:solidFill>
            <a:srgbClr val="5CC8E0"/>
          </a:solidFill>
          <a:ln w="12700">
            <a:solidFill>
              <a:srgbClr val="5CC8E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48640" y="4261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960120" y="4206240"/>
            <a:ext cx="5989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 step마다 평가(generate → CER) · 저장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7315200" y="1463040"/>
            <a:ext cx="4325112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452360" y="1463040"/>
            <a:ext cx="4050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D12-7 학습 한 step 따라가기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7315200" y="2103120"/>
            <a:ext cx="4325112" cy="2194560"/>
          </a:xfrm>
          <a:prstGeom prst="roundRect">
            <a:avLst>
              <a:gd name="adj" fmla="val 3333"/>
            </a:avLst>
          </a:prstGeom>
          <a:solidFill>
            <a:srgbClr val="161D29"/>
          </a:solidFill>
          <a:ln w="15875">
            <a:solidFill>
              <a:srgbClr val="F06A5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479792" y="2194560"/>
            <a:ext cx="399592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06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CUDA out of memory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batch 4 × accum 4 (실제 묶음 16 유지)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gradient_checkpointing=True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model.freeze_encoder()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LoRA (D13)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6.1 · 학습 곡선 읽기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train ↓ · eval ↑ 이면 과적합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12</a:t>
            </a:r>
            <a:endParaRPr lang="en-US" sz="900" dirty="0"/>
          </a:p>
        </p:txBody>
      </p:sp>
      <p:pic>
        <p:nvPicPr>
          <p:cNvPr id="6" name="Image 0" descr="/home/claude/d12/build/fig_dark/curv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247" y="1325880"/>
            <a:ext cx="9357202" cy="2743200"/>
          </a:xfrm>
          <a:prstGeom prst="rect">
            <a:avLst/>
          </a:prstGeom>
        </p:spPr>
      </p:pic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251960"/>
          <a:ext cx="78638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194560"/>
                <a:gridCol w="329184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곡선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뜻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train ↓ · eval ↓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잘 배우는 중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더 학습해 볼 만함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train ↓ · eval ↑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과적합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best 체크포인트 · 데이터 늘리기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loss 튐 · NaN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학습률 너무 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lr ↓ · warmup ↑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거의 평평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학습률 너무 작음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lr ↑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8595360" y="4251960"/>
            <a:ext cx="3044952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8732520" y="4251960"/>
            <a:ext cx="2770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D12-9 곡선 읽기 연습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6.2 · TensorBoard · log_history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Colab 안에서 곡선 보기, 기록 직접 꺼내 그리기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12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6949440" cy="1097280"/>
          </a:xfrm>
          <a:prstGeom prst="roundRect">
            <a:avLst>
              <a:gd name="adj" fmla="val 5000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1444752"/>
            <a:ext cx="662025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%load_ext tensorboard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%tensorboard --logdir {CFG["out_dir"]}/runs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651760"/>
            <a:ext cx="6949440" cy="1828800"/>
          </a:xfrm>
          <a:prstGeom prst="roundRect">
            <a:avLst>
              <a:gd name="adj" fmla="val 3000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13232" y="2724912"/>
            <a:ext cx="6620256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 = trainer.state.log_history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 = [(h["step"], h["loss"]) for h in log if "loss" in h]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 = [(h["step"], h["eval_loss"], h["eval_cer"])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for h in log if "eval_cer" in h]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48640" y="4617720"/>
            <a:ext cx="6949440" cy="685800"/>
          </a:xfrm>
          <a:prstGeom prst="roundRect">
            <a:avLst>
              <a:gd name="adj" fmla="val 8000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" y="4690872"/>
            <a:ext cx="66751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9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if ____ in h  → "eval_cer"</a:t>
            </a:r>
            <a:endParaRPr lang="en-US" sz="1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0" y="1371600"/>
          <a:ext cx="3867912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40487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특징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TensorBoard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Colab 안 · 설치 쉬움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W&amp;B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웹 대시보드 · 실험 비교 · 키 필요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log_history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파이썬으로 직접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7772400" y="3108960"/>
            <a:ext cx="3867912" cy="1371600"/>
          </a:xfrm>
          <a:prstGeom prst="roundRect">
            <a:avLst>
              <a:gd name="adj" fmla="val 4000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936992" y="3182112"/>
            <a:ext cx="353872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(선택) W&amp;B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USE_WANDB = True   # 🔑 WANDB_API_KEY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report_to=["tensorboard", "wandb"]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7772400" y="4617720"/>
            <a:ext cx="3867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💬 쉽게 말하면  </a:t>
            </a:r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 표보다 곡선 한 장이 빠르다.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7.1 · 전 · 후 비교와 저장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문장을 나란히 읽고, 한 폴더에 저장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12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6949440" cy="2377440"/>
          </a:xfrm>
          <a:prstGeom prst="roundRect">
            <a:avLst>
              <a:gd name="adj" fmla="val 2308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1444752"/>
            <a:ext cx="662025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 = transcribe(trainer.model, test_rows)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 = trainer.evaluate()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trainer.save_model(FINAL)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processor.save_pretrained(FINAL)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asr = pipeline("automatic-speech-recognition", model=FINAL)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asr({"raw": y, "sampling_rate": 16000},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generate_kwargs={"language": "korean", "task": "transcribe"})</a:t>
            </a:r>
            <a:endParaRPr lang="en-US" sz="11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0" y="1371600"/>
          <a:ext cx="386791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30759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 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 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CER (예)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12.4%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7.1%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띄어쓰기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Whisper 습관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Zeroth 규칙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문장 부호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마침표 붙임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48640" y="3977640"/>
            <a:ext cx="11094415" cy="1188720"/>
          </a:xfrm>
          <a:prstGeom prst="roundRect">
            <a:avLst>
              <a:gd name="adj" fmla="val 6154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13232" y="4050792"/>
            <a:ext cx="10765231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뉴스 낭독으로 학습한 모델이 회의 녹음 · 영어도 더 잘할까?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보장 안 됨 (catastrophic forgetting). 서비스와 비슷한 데이터로 학습하고, 원래 잘하던 일도 따로 평가. 여러 도메인이면 LoRA(D13).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48640" y="53492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C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💾 Colab 세션이 끝나면 사라짐 → Google Drive에 복사 (약 1 GB)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정리 · 다음 시간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부품 다섯 개로 Whisper를 고쳐 썼다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12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Fine-tuning 방식과 teacher forcing · loss를 설명했다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185623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set_transform으로 Zeroth 학습 데이터를 준비했다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2295144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Collator(−100 · 시작 토큰 빼기)를 만들었다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734056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compute_metrics로 학습 전 CER을 쟀다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3172968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TrainingArguments · Trainer로 학습을 돌렸다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361188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곡선을 읽고 전 · 후를 비교해 저장했다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589520" y="1463040"/>
            <a:ext cx="4050792" cy="2514600"/>
          </a:xfrm>
          <a:prstGeom prst="roundRect">
            <a:avLst>
              <a:gd name="adj" fmla="val 2909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26680" y="1554480"/>
            <a:ext cx="3776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다음: D13 PEFT / LoRA Fine-tuning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726680" y="1965960"/>
            <a:ext cx="37764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2.4억 개를 다 고치지 않고 1% 미만의 덧붙임 행렬만 학습합니다. 8-bit 로딩과 함께 저사양 GPU에서 더 큰 모델을 다루고, 의료 · 법률 · 산업 도메인 용어에 특화시켜 봅니다. 오늘의 Collator · compute_metrics · Trainer를 그대로 씁니다.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4480560"/>
            <a:ext cx="3566160" cy="868680"/>
          </a:xfrm>
          <a:prstGeom prst="roundRect">
            <a:avLst>
              <a:gd name="adj" fmla="val 6316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5800" y="45537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worksheet.html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2926080" y="455371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40문항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85800" y="4937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워크시트 · 노션 제출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297680" y="4480560"/>
            <a:ext cx="3566160" cy="868680"/>
          </a:xfrm>
          <a:prstGeom prst="roundRect">
            <a:avLst>
              <a:gd name="adj" fmla="val 6316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34840" y="45537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animation.html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6675120" y="455371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9개 탭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434840" y="4937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인터랙티브 애니메이션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8046720" y="4480560"/>
            <a:ext cx="3566160" cy="868680"/>
          </a:xfrm>
          <a:prstGeom prst="roundRect">
            <a:avLst>
              <a:gd name="adj" fmla="val 6316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183880" y="45537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D12_Whisper_FullFinetuning_실습.ipynb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10424160" y="455371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빈칸 9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8183880" y="4937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노트북 · T4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48640" y="5577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온라인 자료  </a:t>
            </a:r>
            <a:pPr indent="0" marL="0">
              <a:buNone/>
            </a:pPr>
            <a:r>
              <a:rPr lang="en-US" sz="1050" u="sng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imguru-mooc.github.io/AI_Voice/day12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D12 Whisper Full Fine-tuning</dc:title>
  <dc:subject>PptxGenJS Presentation</dc:subject>
  <dc:creator>PptxGenJS</dc:creator>
  <cp:lastModifiedBy>PptxGenJS</cp:lastModifiedBy>
  <cp:revision>1</cp:revision>
  <dcterms:created xsi:type="dcterms:W3CDTF">2026-10-20T05:50:29Z</dcterms:created>
  <dcterms:modified xsi:type="dcterms:W3CDTF">2026-10-20T05:50:29Z</dcterms:modified>
</cp:coreProperties>
</file>