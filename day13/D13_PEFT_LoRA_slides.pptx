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어제는 2.4억 개를 전부 고쳤습니다. 오늘은 약 1.4%만 고치는 LoRA로, 의료 · 법률 · 산업 중 한 분야의 전문 용어를 가르칩니다. 학습 없이 프롬프트로 힌트를 주는 방법과도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한 문장씩 답하고, 4자 비교 표를 만들면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T4 GPU 필수. gTTS 합성(200문장)이 2~3분, LoRA 학습이 5~10분이라 D12보다 여유롭습니다. 도메인은 학생마다 다르게 고르게 하면 4교시 비교가 재밌습니다.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D12에서 겪은 것을 떠올리게 하세요: 메모리(기울기 + Adam), 시간, 결과 파일 1 GB. 도메인이 여러 개면 1 GB짜리 모델이 도메인 수만큼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B를 0으로 시작하므로 학습 첫 순간 원래 모델과 똑같습니다. ΔW = B·A의 rank가 최대 r이라 Low-Rank. "몇 가지 방향으로만 조금 바꾸면 된다"는 가정입니다.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1은 d_out, 빈칸 2는 zeros. 49,152개는 W의 8.3%이지만, 모델 전체로 보면 q · v에만 붙이므로 1.4%입니다.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 self-attention 12층 × 2(q, v) + Decoder self · cross 12층 × 4 = 72개 행렬 × 32 × (768 + 768) = 3,538,944. 노트북의 print_trainable_parameters와 같은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activation은 둘 다 그대로라 batch를 키우면 메모리가 늘어납니다. medium Full은 T4를 넘지만 LoRA면 들어갑니다(batch 8 기준).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시험은 처음 보는 문장 틀 3개. 문장 무작위로 나누면 거의 같은 문장이 양쪽에 들어가 누수. gTTS는 한 목소리라 실제보다 쉬운 시험이라는 한계를 꼭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gTTS를 짧은 시간에 많이 부르면 잠깐 막힐 수 있어 재시도와 캐시를 넣었습니다. 증강은 속도 0.9~1.1배와 SNR 약 20 dB 잡음.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"심방 세동"은 정규화로 맞음, "공압실린다"는 틀림. 엄격한 지표라 CER과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get_prompt_ids로 만든 토큰은 &lt;|startofprev|&gt; 뒤에 붙습니다. 학습 없이 용어 정확도가 오르기도 하지만, 길이 제한 · 일반 문장 부작용 · 처음 듣는 발음의 한계가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원래 가중치는 자동으로 requires_grad=False. 원래 모델 객체에 LoRA 층이 끼워 넣어지므로 이후 원래 결과가 필요하면 disable_adapter().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· A는 0에서 키워야 해서 1e-3. label_names=["labels"]는 PeftModel이 forward 인자를 감추기 때문. 오늘은 TensorBoard 대신 표로 봅니다(report_to=[]).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보통 용어 정확도는 ① &lt; ② &lt; ③, ④가 가장 높기도 합니다. 일반 CER은 ③이 ①과 비슷하면 원래 실력을 지킨 것. 숫자는 도메인 · GPU마다 다르니 학생 결과로 이야기하세요.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시험도 gTTS 같은 목소리라 실제보다 점수가 좋습니다. 처음 보는 용어는 LoRA로도 대체로 못 맞힙니다. 실무에서는 LoRA + 프롬프트 + 후처리 사전을 함께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어댑터 폴더에는 adapter_config.json(r · alpha · 원래 모델 이름)과 adapter_model.safetensors(B · A)만. 쓰려면 같은 원래 모델이 필요합니다. D14에서 Hub에 이 폴더를 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merge_and_unload: W ← W + (α/r)·B·A, LoRA 층 제거 → 보통 Whisper. 속도 손해가 없고 D8 도구를 그대로 쓸 수 있지만 갈아 끼우기는 불가.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bitsandbytes는 CUDA 버전과 맞아야 해서 선택 실습으로 두었습니다. USE_8BIT=True일 때만 실행하고 실패해도 수업에는 영향이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탭까지 채점한 뒤 노션에 캡처해 제출하게 합니다. Part 6 4자 비교 표도 함께 붙이게 하세요. 어댑터 폴더를 Drive에 저장해 D14에 가져오게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3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3/animation.html#lora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3/animation.html#memory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3/animation.html#domain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3/animation.html#prompt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3/animation.html#l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3/animation.html#adapters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3/animation.html#quant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3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PEFT · LoRA Fine-tuning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저사양 GPU로 도메인 용어 가르치기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원리(W + B·A) → 도메인 데이터(용어 × 문장 틀) → 용어 정확도 · 프롬프트 기준선 → get_peft_model → 학습 → 4자 비교 → 어댑터 저장 · 병합 · 갈아 끼우기 → 8-bit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M3 · 4시간 · T4 GPU · 실습 노트북 Part 0 ~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trainable params: 3,538,944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|| all params: ≈ 245M || trainable%: ≈ 1.44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도메인CER  용어정확도  일반CER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원래 모델          …        …        …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+ 프롬프트         …        …        …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LoRA              …        …        …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lora-medical/adapter_model.safetensors  14 MB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도메인 · GPU에 따라 다릅니다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고치지 않고도 우리 분야 용어를 가르칠 수 있을까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LoRA는 무엇을 고치고, 왜 메모리가 적게 드나?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학습 · 시험 데이터는 어떻게 만들어야 공정한가?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용어를 잘 맞혔는지 어떻게 재나? 프롬프트만으로는 안 되나?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Whisper에 LoRA를 어떻게 붙이고 학습하나?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~ 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LoRA가 정말 도움이 됐고, 원래 실력은 지켰나?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어댑터를 어떻게 저장 · 병합 · 갈아 끼우나?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7 ~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 → 데이터 → 기준선 → LoRA 학습 → 비교 → 어댑터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pic>
        <p:nvPicPr>
          <p:cNvPr id="6" name="Image 0" descr="/home/claude/d13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PEFT · LoRA 원리, 파라미터 · 메모리, 도메인 데이터 만들기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~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 정확도, 원래 모델 vs 프롬프트 기준선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3 ~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LoRA 붙이기 · 학습 (5~10분) · 4자 비교 · 원래 실력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6 · 빈칸 5 ~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 저장 · 병합 · 갈아 끼우기, (선택) 8-bit,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7 ~ 9 · 빈칸 8 ~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D13-1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왜 PEFT인가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Fine-tuning의 세 가지 부담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(D12)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LoRA (오늘)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파라미터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2.4억 (100%)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354만 (1.4%)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기울기 + Adam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2.9 GB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0.04 GB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파일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 GB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14 MB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3개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3개 (3 GB)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1개 + 어댑터 3개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1e-5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1e-3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1463040"/>
            <a:ext cx="405079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54112" y="1554480"/>
            <a:ext cx="3721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교과서에 포스트잇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두꺼운 교과서(W)를 다시 쓰지 않고 고칠 곳에 포스트잇(B · A)을 붙인다. 과목(도메인)마다 다른 포스트잇으로 갈아 붙이고, 마음에 들면 교과서에 옮겨 적는다(merge).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PEFT = 모델 대부분은 얼리고 아주 일부만 학습하는 방법들의 이름. LoRA가 가장 널리 쓰인다.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LoRA 원리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W는 고정, 작은 B · A만 학습해 더한다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pic>
        <p:nvPicPr>
          <p:cNvPr id="6" name="Image 0" descr="/home/claude/d13/build/fig_dark/l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068" y="1325880"/>
            <a:ext cx="8865559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99432"/>
            <a:ext cx="6437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핵심 식 하나: 출력 = W·x + (α / r) · B·A·x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W(d × d) 고정 · B(d × r) · A(r × d) 학습 · r은 보통 8~64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589520" y="4526280"/>
            <a:ext cx="40507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45262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D13-2 LoRA 행렬 놀이터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숫자로 만들어 보기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768 × 768 행렬에 r = 32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132320" cy="3291840"/>
          </a:xfrm>
          <a:prstGeom prst="roundRect">
            <a:avLst>
              <a:gd name="adj" fmla="val 1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80313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rng.normal(0, 0.02, (d_out, d_in))    # 고정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rng.normal(0, 0.02, (r, d_in))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np.zeros((d_out, r))                   # 처음엔 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lora_params = r * (d_in + d_out)           # 49,152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y_lora = W @ x + (alpha / r) * (B @ (A @ x))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np.allclose(W @ x, y_lora)   # True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np.linalg.matrix_rank(B_trained @ A)   # 32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55280" y="1371600"/>
            <a:ext cx="368503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444752"/>
            <a:ext cx="3410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 * (d_in + ____)  → d_out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5280" y="2194560"/>
            <a:ext cx="368503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2267712"/>
            <a:ext cx="3410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= np.____(...)  → zeros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310896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A까지 0이면? → 기울기 0, 못 배움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 · 학습 파라미터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r = 32는 전체의 약 1~1.5%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pic>
        <p:nvPicPr>
          <p:cNvPr id="6" name="Image 0" descr="/home/claude/d13/build/fig_dark/pa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2141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커질수록 LoRA 비율은 더 작아진다 → 큰 모델일수록 LoRA의 이득이 크다.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GPU 메모리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LoRA는 기울기 + Adam을, 8-bit는 가중치를 줄인다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pic>
        <p:nvPicPr>
          <p:cNvPr id="6" name="Image 0" descr="/home/claude/d13/build/fig_dark/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1998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46320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8463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D13-6 GPU 메모리 비교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0" y="4846320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activation은 LoRA여도 줄지 않는다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도메인 데이터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20 × 문장 틀 10 → gTTS → 증강 → 틀 단위 분할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pic>
        <p:nvPicPr>
          <p:cNvPr id="6" name="Image 0" descr="/home/claude/d13/build/fig_dark/do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833" y="1325880"/>
            <a:ext cx="8484030" cy="265176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286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 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심방세동 · 트로포닌 · 와파린 · 메트포르민 · 당화혈색소 · 폐색전증 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소멸시효 · 가압류 · 근저당권 · 집행유예 · 기판력 · 공시송달 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서보모터 · 공압 실린더 · 용접 비드 · 사출 성형 · 예지 정비 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D13-3 도메인 데이터 설계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만들기 코드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· 증강 · replay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3474720"/>
          </a:xfrm>
          <a:prstGeom prst="roundRect">
            <a:avLst>
              <a:gd name="adj" fmla="val 157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augment(y, rng):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y2 = librosa.effects.time_stretch(y, rate=rng.uniform(0.9, 1.1))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noise = rng.normal(0, 1, len(y2)) * np.sqrt(np.mean(y2**2)) / 10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y2 + noise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ti, tpl in enumerate(TEMPLATES):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term in TERMS: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 = tts(tpl.format(t=term))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ti &lt; 7: dom_train += [row, 증강(row)]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dom_test.append(row)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64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학습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 × 2 = 280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시험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replay (Zeroth)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시험 (Zeroth)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용어 정확도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하나를 틀리면 쓸모가 없다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103120"/>
          </a:xfrm>
          <a:prstGeom prst="roundRect">
            <a:avLst>
              <a:gd name="adj" fmla="val 26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term_accuracy(terms, preds):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hits = [normalize(t) in normalize(p)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t, p in zip(terms, preds)]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100 * float(np.mean(hits))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6949440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730752"/>
            <a:ext cx="6675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zip(terms, ____)  → preds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647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심방 세동이라고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(띄어쓰기 무시)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와파린 경과를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공압실린다 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(글자 틀림)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772400" y="32918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중 2개 → 66.7%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프롬프트 기준선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없이 용어 목록을 힌트로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pic>
        <p:nvPicPr>
          <p:cNvPr id="6" name="Image 0" descr="/home/claude/d13/build/fig_dark/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177" y="1325880"/>
            <a:ext cx="9153342" cy="2834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343400"/>
            <a:ext cx="6949440" cy="1005840"/>
          </a:xfrm>
          <a:prstGeom prst="roundRect">
            <a:avLst>
              <a:gd name="adj" fmla="val 545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416552"/>
            <a:ext cx="6620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prompt_ids = processor.get_prompt_ids(PROMPT, return_tensors="pt")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model.generate(input_features=f, prompt_ids=prompt_ids, language="korean")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772400" y="4343400"/>
            <a:ext cx="386791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9560" y="4416552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get_prompt_ids(____)  → PROMPT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D13-4 프롬프트 vs LoRA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LoRA 붙이기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LoraConfig + get_peft_model 한 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pic>
        <p:nvPicPr>
          <p:cNvPr id="6" name="Image 0" descr="/home/claude/d13/build/fig_dark/targ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080" y="1325880"/>
            <a:ext cx="8267535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069080"/>
            <a:ext cx="6949440" cy="1371600"/>
          </a:xfrm>
          <a:prstGeom prst="roundRect">
            <a:avLst>
              <a:gd name="adj" fmla="val 4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142232"/>
            <a:ext cx="6620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lora_cfg = LoraConfig(r=32, lora_alpha=64, lora_dropout=0.05, bias="none",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target_modules=["q_proj", "v_proj"])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get_peft_model(model, lora_cfg)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model.print_trainable_parameters()   # trainable%: 1.44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772400" y="4069080"/>
            <a:ext cx="3867912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9560" y="4142232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["q_proj", ____]  → "v_proj"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0" y="4800600"/>
            <a:ext cx="3867912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4873752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____(model, cfg)  → get_peft_model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LoRA 학습 설정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D12 부품 그대로, 학습률만 100배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D12 Full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D13 LoRA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learning_rate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1e-5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1e-3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batch × accum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×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 ×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max_steps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Zeroth 2,000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280 + Zeroth 200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label_names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(자동)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["labels"]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시간 (T4)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20~30분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5~10분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371600"/>
            <a:ext cx="386791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09560" y="1444752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learning_rate=____  → 1e-3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772400" y="228600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9560" y="228600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D13-7 LoRA 학습률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772400" y="28346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Full에 1e-3 → 원래 실력 무너짐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4자 비교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· 프롬프트 · LoRA · LoRA + 프롬프트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pred_lora = transcribe(model, dom_test)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pred_both = transcribe(model, dom_test, prompt_ids=prompt_ids)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model.disable_adapter():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again = transcribe(model, dom_test[:4])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 == pred_base[:4]   # True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2161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원래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프롬프트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부작용?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LoRA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둘 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↑↑↑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하나보다 용어별 표를 보라: 원래 0%이던 용어가 100%가 됐다면 소리 → 용어 연결을 새로 배운 것.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결과를 믿기 전에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꼭 확인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179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463040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실력: 일반 문장 CER이 떨어지지 않았나 (replay · 작은 lr · 적당한 step)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9751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920240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목소리: 사람이 녹음한 문장으로 다시 시험 (과제 3)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4323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377440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용어: 학습에 없던 용어는? → 데이터 추가 · 프롬프트 · 사전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589520" y="1463040"/>
            <a:ext cx="4050792" cy="2103120"/>
          </a:xfrm>
          <a:prstGeom prst="roundRect">
            <a:avLst>
              <a:gd name="adj" fmla="val 3478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1554480"/>
            <a:ext cx="3721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처음 보는 약 이름도 맞힐까?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대체로 아니다. LoRA는 학습 문장의 소리 · 글자 연결을 배운 것 → 자주 쓰는 핵심 용어는 LoRA, 새 용어는 프롬프트 · 사전.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 · 어댑터 저장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MB만 나눠 주면 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pic>
        <p:nvPicPr>
          <p:cNvPr id="6" name="Image 0" descr="/home/claude/d13/build/fig_dark/adap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982" y="1325880"/>
            <a:ext cx="9319732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51960"/>
            <a:ext cx="6949440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325112"/>
            <a:ext cx="66202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model.save_pretrained("lora-medical")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adapter_config.json · adapter_model.safetensors (약 14 MB)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772400" y="4251960"/>
            <a:ext cx="386791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9560" y="4325112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model.____(DIR)  → save_pretrained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D13-8 어댑터 갈아 끼우기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7.2 · 불러오기 · 병합 · 갈아 끼우기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배포는 merge, 여러 도메인은 set_adapter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3108960"/>
          </a:xfrm>
          <a:prstGeom prst="roundRect">
            <a:avLst>
              <a:gd name="adj" fmla="val 176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WhisperForConditionalGeneration.from_pretrained("openai/whisper-small")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lora_model = PeftModel.from_pretrained(base, "lora-medical")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lora_model.merge_and_unload()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여러 도메인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lora_model.load_adapter("lora-legal", adapter_name="legal")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lora_model.set_adapter("legal")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6791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444752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lora_model.____()  → merge_and_unload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286000"/>
          <a:ext cx="38679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307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merge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속도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약간 느림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갈아 끼우기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전체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+ 어댑터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8.1 · (선택) 8-bit · QLoRA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얼린 W는 낮은 비트로, LoRA는 정밀하게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pic>
        <p:nvPicPr>
          <p:cNvPr id="6" name="Image 0" descr="/home/claude/d13/build/fig_dark/qu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606" y="1325880"/>
            <a:ext cx="10700482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07992"/>
            <a:ext cx="6620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WhisperForConditionalGeneration.from_pretrained("openai/whisper-medium",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quantization_config=BitsAndBytesConfig(load_in_8bit=True), device_map="auto")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772400" y="443484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9560" y="443484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D13-9 양자화와 메모리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1.4%만 고쳐 우리 분야 용어를 가르쳤다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식과 B = 0 초기화를 설명했다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파라미터 · 메모리를 계산했다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× 문장 틀로 도메인 데이터를 만들었다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정확도 · 프롬프트 기준선을 쟀다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get_peft_model로 LoRA 학습 · 4자 비교를 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어댑터를 저장 · 병합 · 갈아 끼웠다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D14 성능 비교 &amp; 상용 API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Whisper · D12 Full · D13 LoRA를 같은 시험 세트로 비교하고, OpenAI · Google · CLOVA Speech 같은 상용 API와 정확도 · 속도 · 비용을 벤치마크합니다. 만든 모델 · 어댑터는 Hugging Face Hub에 업로드합니다.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D13_PEFT_LoRA_실습.ipynb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T4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D13 PEFT · LoRA Fine-tuning</dc:title>
  <dc:subject>PptxGenJS Presentation</dc:subject>
  <dc:creator>PptxGenJS</dc:creator>
  <cp:lastModifiedBy>PptxGenJS</cp:lastModifiedBy>
  <cp:revision>1</cp:revision>
  <dcterms:created xsi:type="dcterms:W3CDTF">2026-10-20T06:19:46Z</dcterms:created>
  <dcterms:modified xsi:type="dcterms:W3CDTF">2026-10-20T06:19:46Z</dcterms:modified>
</cp:coreProperties>
</file>