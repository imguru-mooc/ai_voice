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 동안 TTS 모델 다섯 개를 써 봤습니다. "어느 것이 더 좋아요?"라는 질문에 느낌 대신 숫자와 불확실성으로 답하는 법을 배우고, 그 숫자로 품질을 지키는 생성기를 만들어 4교시에 3분 발표합니다. 팀 구성을 지금 발표하세요.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답하고, 팀 리포트 · 3분 발표 · 워크시트를 제출하면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2교시는 측정, 3교시는 생성기, 4교시는 리포트와 발표입니다. 팀(2 ~ 3명)은 지금 정하고, 3교시 후반에 발표 준비 시간이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CER이 0이면 좋은 TTS인가? → 로봇 같은 목소리도 원고대로 읽으면 CER 0. 반대로 자연스럽지만 한 단어 빠뜨리면 MOS는 높고 CER은 나쁨. 지표는 서로의 빈틈을 메웁니다.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블라인드 콜라 테스트 비유. 상표를 보면 맛 평가가 달라집니다. 평가자끼리 상의 금지(독립). 점수를 다 적은 뒤에 정답 공개 셀을 실행하게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1 = n. 평가자를 4배로 늘려야 구간이 절반. 구간이 겹치면 "차이 확실"이라고 말하지 않습니다. 반 집계 CSV가 있으면 CLASS_CSV로 실제 반 점수 구간을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워크시트 10문항. 자주 틀리는 것: 구간 겹침의 뜻, √n 효과, 블라인드와 무작위의 목적 구분.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UTMOS는 VoiceMOS Challenge 2022 우승 시스템. 강사 실측: 사람 녹음인데 영어 4.27, 중국어 2.64, 한국어 휴대폰 1.48. 절대값 대신 같은 조건 순위로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2 sr: 샘플마다 샘플링 레이트가 다름(A · B 24 kHz, C 16 kHz). 빈칸 3 mean. MOS · UTMOS · CER 순위가 같은지 보고, 다르면 원문 · 받아쓰기 열에서 이유를 찾게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4 = 0. 통째로는 다 만들 때까지 무음, 문장마다는 첫 문장 생성 시간만 기다림. 끊김은 짧은 문장 뒤 긴 문장일 때. 이 TTFA가 D21 지연 예산의 TTS 몫입니다.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 워크시트. 자주 틀리는 것: UTMOS 샘플링 레이트 인자, TTFA vs 총 생성 시간, 끊김 조건.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라디오 PD 비유: 대본 → 성우(TTS) → 틀린 문장 재녹음(게이트) → 오프닝 음악(차임) · 고지 → 송출 규격(LUFS) → 큐시트(SRT).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5 SR, 6 target_lufs, 7 20, 8 1000. 진폭은 20, 전력(SNR)은 10. 음량을 올리면 피크가 0 dBFS를 넘어 클리핑 → 전체를 줄이면 음량이 목표보다 약간 낮아질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9 = "cer" (따옴표 포함). 게이트를 넘으면 바로 멈추고, 끝까지 못 넘으면 CER 최소를 고르고 리포트에 게이트=False로 남겨 사람이 확인. 워터마크를 넣고 마스터링해도 Perth는 볼륨 변화에 강해 확인값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팀별로 원고를 바꿔 실행. 숫자 · 시각 · 층수를 넣어 게이트 결과를 보게 하세요. 실존 인물 이름 · 실제 기관 사칭 문구는 넣지 않습니다(D19 약속). 남은 시간은 발표 준비.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❌가 있는 리포트가 더 좋은 리포트일 수 있습니다. 한계를 숨기지 않았으니까요. 목표는 서비스가 약속하는 것으로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 3분, 발표 후 질문 1개. 동료 평가는 칭찬 1 + 제안 1, "별로" 대신 근거와 함께. 총점은 D20-9 계산기로 만들어 노션에.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회고 표를 한 줄씩 읽으며 "오늘 생성기의 어느 셀에서 쓰였나"를 학생이 답하게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한 줄: 하나의 숫자로 판단하지 말고, 같은 조건에서 여러 지표와 불확실성을 함께 — 그리고 그 측정으로 품질을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과제: 리포트 완성(팀 판단 5줄) · 게이트 실패 분석 · 5주차 준비(음성 비서에서 뺄 단계 · 남길 단계). 워크시트 4개 탭 채점 → 제출 → 캡처 → 노션.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0/animation.html#metrics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0/animation.html#mo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0/animation.html#utmos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0/animation.html#strea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0/animation.html#gen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20/animation.html#loud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0/animation.html#goal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0/animation.html#rubri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20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평가 + 미니 프로젝트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→ 만들고 → 보여 준다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 지도 → MOS 청취 평가 · 신뢰구간 → UTMOS · ASR 역검증 → Streaming TTFA → 오디오북 · 안내방송 생성기 → 리포트 · 3분 발표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 M4 마무리 · 4시간 · T4 GPU · 실습 노트북 Part 0 ~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 (시스템별 평균)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MOS ±반폭  UTMOS   CER  RTF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 4.0 ±0.4   x.xx  0.0x  0.x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 3.8 ±0.4   x.xx  0.0x  0.x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 3.0 ±0.4   x.xx  0.1x  0.0x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TTFA  통째로 8.x초 → 문장마다 2.x초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audiobook  -18.0 LUFS · 피크 -1.0 · 워터마크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각자 실행 결과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TTS가 더 좋아요?"에 숫자로 답하기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품질은 무엇으로 재나? 하나의 숫자로 충분한가?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평가(MOS)는 어떻게 하고, 차이가 "확실한지" 어떻게 아나?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지표(UTMOS)는 믿을 만한가? 원고대로 읽었는지는?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첫 소리를 얼마나 기다리나? 끊김은 언제 생기나?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한 장을 방송용 파일 · 자막으로 만들려면 무엇이 필요한가?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어떻게 판정하고 3분 안에 보여 줄까?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→ 만들고 → 보여 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pic>
        <p:nvPicPr>
          <p:cNvPr id="6" name="Image 0" descr="/home/claude/d20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63" y="1325880"/>
            <a:ext cx="10408970" cy="301752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1280160"/>
                <a:gridCol w="19476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지표 지도 · MOS 청취 · 신뢰구간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D20-1 ~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~ 4 UTMOS · CER · Streaming TTFA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~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D20-4 ~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생성기 (품질 게이트 · 마스터링 · MP3 · SRT)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~ 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D20-6 ~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리포트 · 3분 발표 · 동료 평가 · 회고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D20-8 ~ 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평가 지표 지도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TTS를 재는 여섯 가지 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pic>
        <p:nvPicPr>
          <p:cNvPr id="6" name="Image 0" descr="/home/claude/d20/build/fig_dark/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07" y="1325880"/>
            <a:ext cx="10937282" cy="3749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34924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5349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D20-2 지표 지도 · 함정 샘플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0" y="5349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평가 = 여러 지표 + 같은 조건 + 충분한 표본 + 불확실성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MOS 청취 평가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점수 1 ~ 5, 그리고 조건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pic>
        <p:nvPicPr>
          <p:cNvPr id="6" name="Image 0" descr="/home/claude/d20/build/fig_dark/m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45" y="1325880"/>
            <a:ext cx="10115206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268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457200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블라인드: 시스템 이름을 숨김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50840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502920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순서: 순서 효과를 고르게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54126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5541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548640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 · 같은 이어폰 · 기준 안내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680960" y="4572000"/>
            <a:ext cx="395935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45552" y="4663440"/>
            <a:ext cx="3630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블라인드 테스트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상표를 가리면 순수하게 맛(소리)만 평가한다.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신뢰구간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반폭 = t × 표준편차 ÷ √n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583680" cy="274320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25449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mos_ci(scores, conf=0.95):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np.asarray(scores, float); n = len(x)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sd = x.mean(), x.std(ddof=1)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half = stats.t.ppf((1 + conf) / 2, n - 1)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* sd / np.sqrt(____)        # 빈칸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m, half, m - half, m + half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1371600"/>
            <a:ext cx="432511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1444752"/>
            <a:ext cx="40507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1 → n (점수 개수)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표준오차 = sd ÷ √n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2743200"/>
            <a:ext cx="432511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52360" y="2816352"/>
            <a:ext cx="4050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구간이 겹치면?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확신할 수 없음 → 평가자 늘리기 · 짝 비교(CMOS · A/B) · 통계 검정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3291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평가자 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표준편차 0.8일 때 반폭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± 0.99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아무 결론도 못 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± 0.44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0.2점 차이는 불확실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± 0.21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0.5점 차이면 분명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8138160" y="4389120"/>
            <a:ext cx="35021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75320" y="438912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D20-3 MOS 신뢰구간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1교시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하나가 아니라 "평균 ± 구간"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7490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MOS (예)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Chatterbox 기본 (ex 0.5)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 ± 0.4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Chatterbox 차분 (ex 0.3)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 ± 0.4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MMS-TTS 한국어 VITS (D16)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 ± 0.4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417320"/>
            <a:ext cx="3867912" cy="2743200"/>
          </a:xfrm>
          <a:prstGeom prst="roundRect">
            <a:avLst>
              <a:gd name="adj" fmla="val 2667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80" y="1508760"/>
            <a:ext cx="3502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 vs B: 구간 겹침 → 차이 불확실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 vs C: 안 겹침 → A가 분명히 높음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내 점수와 반 평균이 다르면? 평가자 편차 → 그래서 여러 명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4526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1교시 워크시트 → worksheet.html 1교시 탭 10문항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UTMOS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점수를 흉내 낸 자동 채점기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pic>
        <p:nvPicPr>
          <p:cNvPr id="6" name="Image 0" descr="/home/claude/d20/build/fig_dark/utm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4676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07492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5148072"/>
            <a:ext cx="7351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utmos = torch.hub.load("tarepan/SpeechMOS:v1.2.0", "utmos22_strong", trust_repo=True)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utmos(wave[1, T], ____)      # 빈칸 2 = sr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412480" y="5074920"/>
            <a:ext cx="32278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49640" y="507492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D20-4 자동 지표 vs 사람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ASR 역검증 · 비교표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원고대로 읽었나 + 시스템별 평균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721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41732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합성한 소리를 Whisper로 받아쓰기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293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87452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· 받아쓰기 모두 정규화 (숫자 → 한글)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33172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 = 글자 편집 거리 ÷ 원문 글자 수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8437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78892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시스템별 평균: groupby("system").mean()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0" y="1417320"/>
            <a:ext cx="5239512" cy="1920240"/>
          </a:xfrm>
          <a:prstGeom prst="roundRect">
            <a:avLst>
              <a:gd name="adj" fmla="val 285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1490472"/>
            <a:ext cx="49103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SAMPLES: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s["UTMOS"] = utmos_score(s["y"], s["sr"])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s["CER"] = cer_ko(s["text"], transcribe(...))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EVAL.groupby("system")[cols]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.____().round(3)    # 빈칸 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3520440"/>
            <a:ext cx="523951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3593592"/>
            <a:ext cx="4965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·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2 → sr · 빈칸 3 → mean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3611880"/>
            <a:ext cx="5340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대본 보며 받아쓰기 채점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성우가 읽은 것을 받아 적어 대본과 비교. 빠뜨린 단어 · 잘못 읽은 숫자가 드러난다.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4983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지표로 후보를 거르고, 마지막은 사람 평가로 확정 → Part 5 품질 게이트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Streaming TTS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TTFA = ready[0]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40080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0716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= [첫 조각 준비, 둘째 조각 준비, ...]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TTFA  = ready[____]                # 빈칸 4 =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TTFA + [0, cumsum(lens[:-1])]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6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stall = ready &gt; start              # 끊김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23760" y="1371600"/>
            <a:ext cx="4416552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9A82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050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8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조각 i 재생 시작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TTFA + 앞 조각 길이의 합
그보다 늦게 준비되면 끊김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조각 짧게 · 버퍼 0.5 ~ 1초 · 빠른 모델 · GPU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7315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2560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TTFA (T4 예)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체감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통째로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~ 12초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한참 침묵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 ~ 3초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곧바로 시작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쉼표 단위 첫 조각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안팎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빠름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138160" y="3977640"/>
            <a:ext cx="35021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75320" y="397764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D20-5 스트리밍 타임라인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2교시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자동 지표, 그리고 체감 속도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  <a:gridCol w="2862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잡는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놓치는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쓰는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UTMOS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어색함 · 잡음 · 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오류 · 한국어 절대값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SUMMARY · 리포트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빠짐 · 숫자 오류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억양 · 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게이트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체감 대기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D21 지연 예산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자연스러움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(비쌈 · 느림)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확정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2교시 워크시트 → worksheet.html 2교시 탭 10문항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미니 프로젝트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한 장 → 방송용 파일 + 자막 + 리포트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pic>
        <p:nvPicPr>
          <p:cNvPr id="6" name="Image 0" descr="/home/claude/d20/build/fig_dark/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68" y="1325880"/>
            <a:ext cx="10283359" cy="329184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82880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프리셋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 (문장 · 문단)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차임 · 반복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audiobook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 0.35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0.35 · 0.9초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· 1번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−18 LUFS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announce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 0.5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 · 0.8초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딩동댕 · 2번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−16 LUFS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95360" y="4754880"/>
            <a:ext cx="3044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732520" y="475488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D20-6 생성기 파이프라인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편집 · 마스터링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dBFS = 20 · log₁₀(진폭)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pic>
        <p:nvPicPr>
          <p:cNvPr id="6" name="Image 0" descr="/home/claude/d20/build/fig_dark/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17877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703320"/>
            <a:ext cx="6949440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776472"/>
            <a:ext cx="662025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np.zeros(int(sec * ____))                       # 5 SR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pyln.normalize.loudness(y, cur, ____)           # 6 target_lufs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peak_db = ____ * np.log10(max|y|)               # 7 20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peak_db &gt; -1: y *= 10 ** ((-1 - peak_db) / 20)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total_ms = int(round(sec * ____))               # 8 1000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"01:02:03,456"  (SRT는 쉼표)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680960" y="1371600"/>
            <a:ext cx="3959352" cy="1463040"/>
          </a:xfrm>
          <a:prstGeom prst="roundRect">
            <a:avLst>
              <a:gd name="adj" fmla="val 375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1444752"/>
            <a:ext cx="36850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~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→ SR · 6 → target_lufs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→ 20 · 8 → 1000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680960" y="3017520"/>
            <a:ext cx="3959352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45552" y="3108960"/>
            <a:ext cx="3630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천장 높이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음량(평균 키)을 올려도 머리(피크)가 천장(−1 dBFS)에 닿으면 안 된다.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680960" y="452628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18120" y="45262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D20-7 LUFS · 피크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· 품질 게이트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= min(cands, key=lambda c: c["cer"])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3108960"/>
          </a:xfrm>
          <a:prstGeom prst="roundRect">
            <a:avLst>
              <a:gd name="adj" fmla="val 176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synth_best(text, cfg, n_try=N_TRY):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cands = []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in range(n_try):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 = model.generate(normalize_ko(text), ...)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cands.append(dict(y=y, cer=cer_ko(text, transcribe(y))))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cands[-1]["cer"] &lt;= CER_GATE: break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min(cands, key=lambda c: c[____])  # 9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dict(best, tries=len(cands))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3108960"/>
          </a:xfrm>
          <a:prstGeom prst="roundRect">
            <a:avLst>
              <a:gd name="adj" fmla="val 2353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1463040"/>
            <a:ext cx="37764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make_program() 순서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AI 고지 문구 (D19)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차임 (안내방송)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문장마다 synth_best · cache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문장 쉼 · 문단 쉼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워터마크 → 마스터링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워터마크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WAV · MP3 · SRT · 리포트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🎧 오디오북 앞의 "이 음성은 인공지능으로 만든 음성입니다"가 들리는지 확인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5.4 · 내 원고로 실행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안내방송 · 오디오북을 팀 원고로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 · 후보_CER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선택된 후보 · 시도별 오류율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· 고유명사 문장이 높은지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 · 게이트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번 만들었나 · 기준 통과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False면 원고 나누기 · 숫자 풀어 쓰기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LUFS · 피크_dBFS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음량 · 최대 순간값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± 1 LU · ≤ −1 dBFS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워터마크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Perth 확인값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1이어야 내보냄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SRT 줄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고지 1 + 문장 수 (반복 포함)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0233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411480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10시간 오디오북을 이 생성기로 만든다면?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비용(병렬) · 일관성(참고 음성 · 씨앗 고정) · 검수(사람 샘플링) · 권리(원고 · 목소리 · 플랫폼 AI 낭독 정책)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3교시 워크시트 → worksheet.html 3교시 탭 10문항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품질 리포트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정하고, 측정으로 판정한다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오디오북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안내방송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통과율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 0.8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± 1 LU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≤ −1 dBFS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워터마크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검출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CER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≤ 0.10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703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예시 · 실제 값은 팀마다 다름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7498080" y="1417320"/>
            <a:ext cx="414223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0" y="1508760"/>
            <a:ext cx="3776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report.md 목차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시스템 비교 (MOS · UTMOS · CER · RTF)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생성기 결과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목표 판정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문장별 품질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한계와 다음 단계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42062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206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D20-8 목표 판정판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3분 발표 · 동료 평가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· 들려주고 · 근거로 · 다음은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0:00 – 0:30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만들었나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0:30 – 1:30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🎧 결과물 15초 + 자막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1:30 – 2:30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 · 판정 · 실패 문장 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2:30 – 3:00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 · 다음 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17320"/>
          <a:ext cx="53309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항목 (각 5점)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5점의 모습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 품질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자연스럽고 원고대로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평가의 근거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지표 + 한계까지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 있는 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고지 · 워터마크 · 권리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 안에 핵심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36576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3657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D20-9 발표 평가표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· 4주차 회고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D16 ~ D20: 원리 → 빠르게 → 감정 → 책임 → 평가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77647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생성기에서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D16 TTS 원리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· G2P · mel · Vocoder · VITS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normalize_ko · 시스템 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D17 Kokoro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모델 · CPU 실시간 · 스트리밍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TTFA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D18 표현형 TTS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exaggeration · CFG · 참고 음성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모드별 프리셋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D19 복제 · 윤리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· 고지 · 워터마크 · 철회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고지 문구 · 워터마크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D20 평가 · 프로젝트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MOS · UTMOS · CER · LUFS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게이트 · 리포트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오늘 배운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지표 · 같은 조건 · 불확실성 → 품질 게이트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90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MOS 신뢰구간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반폭 = t × sd ÷ √n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 / np.sqrt(n)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UTMOS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MOS 예측 · 언어 편향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utmos(wave, sr)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시스템별 평균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.groupby("system").mean()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Streaming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TTFA = 첫 조각 준비 시각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ready[0]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게이트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 · CER 최소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min(cands, key=lambda c: c["cer"])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마스터링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LUFS 맞추기 · 피크 ≤ −1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loudness(y, cur, target_lufs)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내보내기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MP3 · SRT · 고지 · 워터마크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srt_time(sec) · 20 · log10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5주차: 귀와 입 사이에 두뇌를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지표 여섯 가지와 각각이 놓치는 것을 말할 수 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 신뢰구간을 계산하고 구간 겹침을 해석했다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UTMOS · CER로 시스템을 비교하고 한계를 말했다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TTFA와 끊김 조건을 측정했다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게이트 · 마스터링 · 고지 · 워터마크를 갖춘 생성기를 만들었다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리포트로 3분 발표 · 동료 평가를 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D21 Voice Agent 아키텍처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→ LLM → TTS(Cascade) 음성 비서와 Speech-to-Speech 모델을 비교하고, 오늘 잰 TTFA를 출발점으로 지연 예산(Latency Budget)을 설계합니다.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D20_TTS평가_프로젝트_실습.ipynb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T4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imguru-mooc.github.io/AI_Voice/day20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D20 TTS 평가 + 미니 프로젝트</dc:title>
  <dc:subject>PptxGenJS Presentation</dc:subject>
  <dc:creator>PptxGenJS</dc:creator>
  <cp:lastModifiedBy>PptxGenJS</cp:lastModifiedBy>
  <cp:revision>1</cp:revision>
  <dcterms:created xsi:type="dcterms:W3CDTF">2026-10-28T12:58:42Z</dcterms:created>
  <dcterms:modified xsi:type="dcterms:W3CDTF">2026-10-28T12:58:42Z</dcterms:modified>
</cp:coreProperties>
</file>