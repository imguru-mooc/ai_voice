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참고 음성으로 말투를 옮겼습니다. 같은 기능에 내 목소리를 넣으면 복제입니다. 오늘은 그것이 얼마나 쉬운지 확인하고, 그래서 무엇을 지켜야 하는지 함수로 만듭니다. 시작 전에 오늘의 약속 4가지를 함께 읽으세요.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답하고, Part 2 · 4 · 5 표를 제출(소리 파일은 제출 금지)하면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약속 4가지를 소리 내어 읽고 동의를 구하세요. 녹음을 원하지 않는 학생은 USE_MIC = False로 불이익 없이 참여합니다. 녹음 여부를 묻거나 강요하지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D19-2에서 시나리오 5 ~ 6개를 반 전체 투표(허용 / 조건부 / 금지) 후 판정을 공개하세요. 판정은 토론용 일반 기준이며 개별 사안 판단은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오해 두 가지를 짚으세요: AI기본법의 표시 의무는 사업자 대상(일반 이용자 아님), 부정경쟁방지법 타목은 널리 알려진 사람의 표지를 영리에 무단 사용하는 경우. 수업 당일 기준으로 다시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WavLM-SV는 말한 내용과 상관없이 목소리 결을 512차원 벡터로 냅니다. 빈칸 1 embeddings, 빈칸 2 SV_THRESHOLD. 기준 0.86은 예시 값이며 데이터마다 다시 정합니다(EER 근처).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강사가 먼저 시범 녹음. 화면의 🔴 상자를 보고 읽게 하세요. 교실이 시끄러우면 차례로 녹음하거나 대역 모드를 권장. 학생 화면을 돌아다니며 듣지 마세요(개인정보).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3 voice_ok, 빈칸 4 audio_bytes. ①만 통과해야 정상. ①이 실패한 학생은 CER(받아쓰기)인지 유사도인지 표에서 원인을 찾게 하세요. 실패도 좋은 학습 소재입니다.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SHA-256은 파일의 지문입니다. 1바이트만 바뀌어도 전혀 다른 값 → 바꿔치기 확인. 게이트는 최소 조건일 뿐: 복제 목소리로 만든 동의 · 강요된 동의는 신분 확인 · 무작위 문장 · 서면 계약으로 보완.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D18의 audio_prompt_path에 내 녹음을 넣으면 그대로 복제입니다. 빈칸 5 MY_REF. 학생 반응(닮았다 / 덜 닮았다)을 들은 뒤 "공개된 무료 모델"이라는 점을 강조. 복제 소리 공유 금지를 다시 상기.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6 SR. 3초 = 72,000 샘플. 보통 길수록 더 닮지만 한 번의 샘플링이라 순서가 뒤집히기도 합니다. "3초면 통화 첫 마디, 숏폼 한 컷" → 목소리를 공개하는 직업일수록 위험.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사람 0.85 ~ 0.95, 복제는 그보다 조금 낮거나 비슷, 다른 사람 0.3 ~ 0.6 근처(사람 · 마이크마다 다름). 복제가 기준을 넘으면 목소리 인증 우회.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가족 전화 ❓로 마무리: 끊고 아는 번호로 다시 걸기, 가족 암호. 무작위 문장은 미리 만든 녹음 재생을 어렵게 하지만 실시간 음성 변환(VC)에는 약하다는 점도 짚기.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7 = 10(전력의 dB). 진폭의 dB는 20 · log₁₀ — 섞어 쓰는 실수를 짚기. 빈칸 8 = 8000: 전화는 나이퀴스트 4 kHz 위가 사라짐(D2 연결).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실측 그림. 학생 표도 같은 경향인지 확인. 내 녹음(원본) 줄이 모두 0이면 거짓 경보 없음. 공격 실험 공개의 윤리(❓): 연구 공개 vs 악용 도구 배포의 경계.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검사 순서: 가장 확실한 거부 사유(기록 없음 · 철회)를 먼저, 비싼 합성은 뒤에. 로그에는 원문 대신 해시. 고지 문구는 모델 기본 목소리로 앞에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①이 "동의 확인 실패"로 거부되었다면 게이트 미통과 → 함수가 제대로 동작한 것. ②금지 내용 ③철회 후 요청이 거부되면 빈칸 정답. ①이 합성되면 앞에 고지 문구가 붙었는지 들어 보기(본인이 원할 때만).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금지어는 거짓 차단(사기 예방 교육 음성)과 우회(다른 표현)에 모두 약함 → 분류 모델 · 사람 검토 · 이의 제기 경로. 마지막으로 전원 삭제 셀 실행을 확인하세요(남은 폴더: False).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한 줄: 목소리는 더 이상 본인 증명이 아니다. 동의 · 고지 · 워터마크 · 로그 · 철회를 여러 겹으로.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세 가지를 안내하고 워크시트 4교시까지 채점 → 노션 제출(표만, 소리 파일 금지). 과제 3 고인 목소리 복원은 5분 토론으로 맛보기.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9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9/animation.html#risk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9/animation.html#cons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9/animation.html#embe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9/animation.html#embe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9/animation.html#snr" TargetMode="External"/><Relationship Id="rId2" Type="http://schemas.openxmlformats.org/officeDocument/2006/relationships/hyperlink" Target="https://imguru-mooc.github.io/AI_Voice/day19/animation.html#phon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9/animation.html#wm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9/animation.html#layers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9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Cloning &amp; AI 윤리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초면 복제되는 목소리, 어떻게 지킬까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쓰임 · 위험 · 법 → 화자 인증 · 동의 게이트 → zero-shot 복제 → 인증 우회 실험 → 워터마크 견고성 → 책임 있는 복제 함수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 M4 · 4시간 · T4 GPU · 실습 노트북 Part 0 ~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= consent_gate(heard, sim)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text_ok  True   voice_ok  True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 = text_ok and voice_ok → True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sim(heldout, clone)  0.8x  ≥ 0.86 ?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watermark  MP3 1 · 전화 1 · 음높이 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06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⛔ 동의가 철회됨 → PermissionError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각자 실행 결과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목소리가 더 이상 본인 증명이 아니라면?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복제는 어디에 쓰이고, 어떤 위험이 있나? 법은 무엇을 요구하나?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"같은 사람"인지 기계는 어떻게 판단하나?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 사람이 그 내용에 동의했다"는 것을 어떻게 확인 · 기록하나?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초면 복제되나? 참고 길이에 따라 얼마나 닮나?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인증은 복제를 막을 수 있나? 워터마크는 얼마나 버티나?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~ 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있는 복제 서비스는 어떤 관문을 거쳐야 하나?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흐름과 약속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 · 막기 · 책임지기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pic>
        <p:nvPicPr>
          <p:cNvPr id="6" name="Image 0" descr="/home/claude/d19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498" y="1325880"/>
            <a:ext cx="946270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5196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F06A5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4343400"/>
            <a:ext cx="107286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오늘의 약속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본인 목소리 또는 모델이 만든 대역 목소리만 (USE_MIC = False 가능)   ② 만든 소리는 노트북 밖으로 공유 금지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수업 후 Part 7 삭제 셀 실행   ④ 법 · 제도 내용은 수업용 요약이며 법률 자문이 아님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같은 기술, 두 갈래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쓰임과 나쁜 쓰임은 같은 기술이다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pic>
        <p:nvPicPr>
          <p:cNvPr id="6" name="Image 0" descr="/home/claude/d19/build/fig_dark/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666" y="1325880"/>
            <a:ext cx="8874363" cy="310896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zero-shot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음성 3 ~ 10초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없음 · 즉시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fine-tuning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녹음 수십 분 이상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닮음 · GPU ·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변환(VC)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말소리 + 목표 목소리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사칭에 악용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95360" y="4617720"/>
            <a:ext cx="3044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732520" y="461772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D19-2 이 사용은 괜찮을까?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법 · 제도 (2026.10 기준 요약)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· 고지 · 동의 · 선거 · 퍼블리시티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pic>
        <p:nvPicPr>
          <p:cNvPr id="6" name="Image 0" descr="/home/claude/d19/build/fig_dark/l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556" y="1325880"/>
            <a:ext cx="8776582" cy="2743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852160"/>
                <a:gridCol w="213055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 · 제도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인공지능기본법 (2026.1.22)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결과물 표시 · 딥페이크 고지 · 대상은 AI 사업자 · 초기 계도 중심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고지 + 워터마크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부정경쟁방지법 타목 (2022.6)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널리 알려진 사람의 성명 · 초상 · 음성 · 서명 등 무단 영리 사용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유명인 목소리 ✗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공직선거법 제82조의8 (2024.1)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선거일 전 90일부터 딥페이크 음향 등 선거운동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정치인 목소리 ✗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제50조 (2026.8.2)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음성 기계 판독 표시 · 딥페이크 공개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견고성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화자 인증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= (e₁ ÷ ‖e₁‖) · (e₂ ÷ ‖e₂‖) ≥ 기준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74320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= AutoModelForAudioXVector.from_pretrained(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"microsoft/wavlm-base-plus-sv")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sv(**x).____                  # 빈칸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F.normalize(e, dim=-1)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 = (e1 * e2).sum()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SV_THRESHOLD = 0.86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score &gt;= ____              # 빈칸 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·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1 → embeddings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2 → SV_THRESHOLD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788920"/>
          <a:ext cx="41422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535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높이면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복제 · 다른 사람 ↓ · 본인 거부 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통과 ↑ · 위조 통과 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343400"/>
            <a:ext cx="6766560" cy="1188720"/>
          </a:xfrm>
          <a:prstGeom prst="roundRect">
            <a:avLst>
              <a:gd name="adj" fmla="val 615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" y="4434840"/>
            <a:ext cx="6437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출입문 보안 강도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높이면 감기 걸린 본인도 못 들어가고, 너무 낮추면 닮은 사람도 들어온다.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498080" y="4343400"/>
            <a:ext cx="41422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35240" y="43434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D19-4 동의 게이트 시뮬레이터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녹음 3종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· 확인용 · 동의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ref.wav (12초)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 낭독 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복제에 쓸 참고 음성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heldout.wav (7초)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복제가 진짜와 얼마나 닮았나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consent.wav (6초)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"저는 오늘 실습에서 제 목소리를 복제하는 데 동의합니다."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게이트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other_*.wav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목소리를 −5반음 내린 참고로 만든 새 목소리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"다른 사람" 대역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229600" y="1371600"/>
            <a:ext cx="3410712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394192" y="1444752"/>
            <a:ext cx="308152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USE_MIC = True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False: 대역 목소리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(불이익 없음)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3794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다른 사람의 녹음은 쓰지 않는다 · 모든 파일은 voice19/ 폴더에만 → 수업 후 삭제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동의 게이트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= text_ok AND voice_ok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pic>
        <p:nvPicPr>
          <p:cNvPr id="6" name="Image 0" descr="/home/claude/d19/build/fig_dark/cons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455" y="1325880"/>
            <a:ext cx="8728785" cy="29260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73152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text_ok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voice_ok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나 + 동의 문장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다른 사람 + 동의 문장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나 + 다른 문장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046720" y="4434840"/>
            <a:ext cx="359359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83880" y="4507992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·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3 → voice_ok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4 → audio_bytes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 · 동의 기록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· 범위 · 만료 · 철회 · 해시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400800" cy="3291840"/>
          </a:xfrm>
          <a:prstGeom prst="roundRect">
            <a:avLst>
              <a:gd name="adj" fmla="val 1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07161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"user_id": "student01",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"purpose": "D19 수업 실습: 본인 목소리 복제 체험",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"scope": "이 노트북 안에서만 · 외부 공유 금지",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"created": "2026-10-28T10:15:00",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"expires": "2026-10-29T10:15:00",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"audio_sha256": "3f9a…(64자리)",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"gate": {"text_ok": true, "voice_ok": true, "ok": true},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"revoked": false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223760" y="1371600"/>
            <a:ext cx="4416552" cy="3291840"/>
          </a:xfrm>
          <a:prstGeom prst="roundRect">
            <a:avLst>
              <a:gd name="adj" fmla="val 2222"/>
            </a:avLst>
          </a:prstGeom>
          <a:solidFill>
            <a:srgbClr val="161D29"/>
          </a:solidFill>
          <a:ln w="15875">
            <a:solidFill>
              <a:srgbClr val="F06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050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게이트가 못 막는 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복제 목소리로 만든 동의 문장
· 강요된 동의 · 녹음 바꿔치기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신분 확인 (계정 · 신분증)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매번 바뀌는 무작위 동의 문장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영상 확인 · 서면 계약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zero-shot 복제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없이, 말한 적 없는 문장을 내 목소리로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315200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98601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= model.generate(CLONE_TEXT, language_id="ko",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audio_prompt_path=____)   # 빈칸 5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cloned_emb = model.conds.t3.speaker_emb.clone()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model.conds = copy.deepcopy(BUILTIN)            # 되돌리기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sim(clone, held)  →  기준과 비교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46720" y="1371600"/>
            <a:ext cx="359359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1444752"/>
            <a:ext cx="3319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5 → MY_REF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8953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384048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음성 → 화자 임베딩 · 토큰 150개 · S3Gen 참고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429768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문장을 그 조건으로 합성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" y="475488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확인용 녹음과 화자 유사도 비교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521208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목소리로 되돌리기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46720" y="2514600"/>
            <a:ext cx="35935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251460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D19-5 화자 임베딩 공간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몇 초면 충분한가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3초만으로도 기준 근처까지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sec in [3, 6, 10]: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 = y_ref[: int(sec * ____)]      # 빈칸 6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model.generate(..., audio_prompt_path=f"ref_{sec}s.wav")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6 → SR (24000)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46304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 (확인용과)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실행 결과 · 대체로 길수록 유사도 ↑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46720" y="310896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11312" y="3200400"/>
            <a:ext cx="3264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3초짜리 성대모사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마디만 듣고도 목소리 결은 따라 한다. 말버릇 · 억양은 더 들어야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화자 인증 vs 복제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인증은 "녹음 · 합성인가"를 보지 않는다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pic>
        <p:nvPicPr>
          <p:cNvPr id="6" name="Image 0" descr="/home/claude/d19/build/fig_dark/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64" y="1325880"/>
            <a:ext cx="10117567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올리면 복제는 막히지만 본인도 거부된다 → 기준 하나로 둘 다 잡기 어렵다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그래서 여러 겹으로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목소리는 더 이상 본인 증명이 아니다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179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인증은 보조 수단으로만 (단독 인증 금지)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751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92024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바뀌는 무작위 문장 · 시간 제한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4323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37744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음성 탐지(anti-spoofing) · 워터마크 검사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8895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83464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거래는 다른 경로로 재확인 (앱 · 등록 번호)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72400" y="1463040"/>
            <a:ext cx="386791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1554480"/>
            <a:ext cx="3502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가족의 급한 송금 전화, 목소리가 똑같다면?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끊고 내가 아는 번호로 다시 걸기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가족끼리만 아는 확인 질문 · 암호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657600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365760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D19-5 화자 임베딩 공간: 참고 길이 · 잡음 · 기준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변형 만들기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SNR(dB) = 10 · log₁₀(P신호 ÷ P잡음)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103120"/>
          </a:xfrm>
          <a:prstGeom prst="roundRect">
            <a:avLst>
              <a:gd name="adj" fmla="val 26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p_sig, p_noise = np.mean(y ** 2), np.mean(n ** 2)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+ n * np.sqrt(p_sig / (p_noise * 10 ** (snr_db / ____)))  # 7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y8 = librosa.resample(y, orig_sr=sr, target_sr=____)      # 8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librosa.resample(y8, orig_sr=8000, target_sr=sr)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1371600"/>
            <a:ext cx="395935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444752"/>
            <a:ext cx="3685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 ·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7 → 10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8 → 8000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560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 전력 ÷ 신호 전력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1/1000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조용한 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1/100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사무실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시끄러운 카페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80960" y="278892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278892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D19-8 SNR 계산기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680960" y="329184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18120" y="32918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D19-9 전화 음질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워터마크는 얼마나 버티나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· 전화에는 강하고, 음높이 · 강한 잡음에는 약하다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pic>
        <p:nvPicPr>
          <p:cNvPr id="6" name="Image 0" descr="/home/claude/d19/build/fig_dark/w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606" y="1325880"/>
            <a:ext cx="9824484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워터마크가 없다 ≠ 사람 목소리 → 표시 의무와 함께 고지 · 동의 · 처벌이 필요한 이유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525780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5257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D19-6 워터마크 공격 실험실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책임 있는 복제 함수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실패하면 내보내지 않는다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pic>
        <p:nvPicPr>
          <p:cNvPr id="6" name="Image 0" descr="/home/claude/d19/build/fig_dark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70" y="1325880"/>
            <a:ext cx="9893355" cy="301752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· 만료 · 철회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처리 원칙 · 퍼블리시티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 내용 차단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사칭 · 금융 사기 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고지 · 워터마크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인공지능기본법 · EU AI Act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로그(해시)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 · 책임 · 개인정보 최소화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95360" y="4526280"/>
            <a:ext cx="3044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732520" y="452628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D19-7 요청의 관문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철회된 동의는 거부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c["revoked"]: raise PermissionError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responsible_clone(user_id, text):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CONSENTS.get(user_id)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 is None: raise PermissionError("동의 기록 없음")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c[____]: raise PermissionError("동의가 철회됨")  # 9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금지 내용 · 게이트 · 만료 ...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고지 + 0.4초 + 복제 음성 → 워터마크 확인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LOG.append(시간 · user_id · 해시)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1371600"/>
            <a:ext cx="395935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444752"/>
            <a:ext cx="3685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 → "revoked"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514600"/>
          <a:ext cx="3959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47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정상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(또는 게이트 실패)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"계좌로 송금해 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⛔ 금지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철회 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⛔ 동의가 철회됨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정책과 삭제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금지어 목록은 시작일 뿐, 그리고 꼭 지운다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금지어 방식의 한계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요청도 막음 (거짓 차단)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문맥 분류 모델 (LLM 포함)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 · 다른 표현으로 우회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검토 · 신고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막힌 사용자의 불편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이의 제기 · 별도 승인 경로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371600"/>
            <a:ext cx="3959352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45552" y="1444752"/>
            <a:ext cx="36301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DELETE_NOW = True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shutil.rmtree(WORK)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남은 폴더: False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3383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기록에는 해시만 남아, 원본 없이도 "어떤 파일이었는지" 확인 가능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오늘 배운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목소리는 몇 초면 복제된다 → 여러 겹으로 지킨다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3959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인증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x-vector 코사인 유사도 ≥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sv(**x).embeddings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게이트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사람 AND 동의 문장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ok = text_ok and voice_ok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기록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 · 범위 · 만료 · 철회 · 해시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hashlib.sha256(audio_bytes)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zero-shot 복제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몇 초 · 학습 없음 · 되돌리기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audio_prompt_path=MY_REF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한계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복제가 통과 가능 → 다중 인증 · 재확인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워터마크 견고성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 · 전화 강 / 음높이 · 강한 잡음 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** (snr / 10), target_sr=8000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 있는 함수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· 철회 · 내용 · 고지 · 워터마크 · 로그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c["revoked"]: raise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D20 TTS 평가 + 미니 프로젝트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복제의 쓰임 · 위험과 관련 법 · 제도를 설명할 수 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인증 함수를 만들고 기준값의 의미를 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게이트와 해시가 든 동의 기록을 만들었다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길이에 따른 복제 유사도를 쟀다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인증의 한계와 워터마크 견고성을 실험했다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철회까지 갖춘 책임 있는 복제 함수를 만들고 녹음을 삭제했다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D20 TTS 평가 + 미니 프로젝트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MOS(사람 청취) · UTMOS(자동 품질) · ASR 역검증(CER) · Streaming TTS 지연을 함께 재는 평가 틀을 만들고, 미니 프로젝트로 오디오북 / 안내방송 생성기를 만듭니다. 오늘의 동의 · 고지 · 워터마크를 그대로 붙입니다.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D19_보이스클로닝윤리_실습.ipynb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T4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D19 Voice Cloning &amp; AI 윤리</dc:title>
  <dc:subject>PptxGenJS Presentation</dc:subject>
  <dc:creator>PptxGenJS</dc:creator>
  <cp:lastModifiedBy>PptxGenJS</cp:lastModifiedBy>
  <cp:revision>1</cp:revision>
  <dcterms:created xsi:type="dcterms:W3CDTF">2026-10-28T10:42:08Z</dcterms:created>
  <dcterms:modified xsi:type="dcterms:W3CDTF">2026-10-28T10:42:08Z</dcterms:modified>
</cp:coreProperties>
</file>