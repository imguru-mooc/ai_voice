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5는 1주차 M1의 마지막 날로, 지금까지 만든 소리 처리 도구 위에 처음으로 딥러닝 모델을 올립니다. 1초 음성에서 10개 단어 중 하나를 맞히는 키워드 인식 모델을 처음부터 학습하고, 내 음성 파일로 시험하는 미니 프로젝트까지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질문에 한 문장으로 답할 수 있으면 오늘 목표 달성입니다.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Part 0~2, 2교시 Part 3, 3교시 Part 4~5, 4교시 Part 6과 노션 제출입니다. 데이터 다운로드(2~4분)는 수업 시작하자마자 실행시킵니다.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화자가 학습과 테스트에 섞이면 목소리를 외워서 맞힐 수 있습니다. 실제 사용자는 처음 듣는 목소리이므로 화자 기준으로 나눕니다. hash mod 100이라 데이터를 추가해도 같은 화자는 같은 쪽에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배치로 묶으려면 모든 입력의 크기가 같아야 합니다. 짧으면 0으로 채우고 길면 자릅니다. 프레임 수는 D3 공식 그대로 1 + 16000//160 = 101입니다.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단어마다 밝은 덩어리의 위치와 모양이 다릅니다. CNN은 이 무늬를 학습합니다. 정규화는 반드시 학습 세트의 μ, σ로 하고 검증 · 테스트 · 예측에도 같은 값을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특징을 한 번만 계산해 메모리에 올려 두면 epoch마다 다시 계산하지 않아 빠릅니다. shuffle=True는 학습용에만.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 DFT의 곱해서 더하기와 같은 원리인데, 필터 값을 사람이 정하지 않고 학습으로 찾습니다. K=3, P=1, S=1이면 크기가 유지되고, 뒤의 MaxPool이 절반으로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층마다 모양을 손으로 따라가 보게 하세요. GAP 덕분에 n_mels를 바꿔도 Linear 크기는 그대로입니다. 마지막 Linear의 출력 수 = 클래스 수가 빈칸 4입니다.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전에는 10개를 고르게 찍어 손실이 log 10 ≈ 2.30에서 시작합니다. 기울기가 p − onehot이라는 것을 autograd로 확인한 결과를 꼭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학습률은 가장 중요한 손잡이입니다. Adam은 파라미터마다 걸음 크기를 자동으로 조절해 1e-3에서 잘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zero_grad를 빼먹으면 기울기가 누적됩니다. 평가 때 model.eval()과 torch.no_grad()를 잊지 않게 하세요. GPU 12 epoch이면 검증 정확도가 보통 90% 안팎입니다.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곡선입니다. 실제 곡선은 노트북 결과로 함께 읽습니다. val이 다시 오르기 시작하면 과적합, 둘 다 높게 멈추면 과소적합.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세트(처음 보는 화자)로 최종 성적을 냅니다. 재현율은 행, 정밀도는 열. 깨우기 단어라면 오작동과 놓침 중 무엇이 더 나쁜지에 따라 기준을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학습할 때만 매 배치 새로 가립니다. 같은 epoch에서 학습 정확도는 조금 낮아지고 train − val 차이가 줄어드는 것을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학습과 예측의 전처리 불일치가 실무에서 가장 흔한 실패 원인입니다. 정규화 값 μ, σ를 모델과 함께 저장하는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줄을 학생에게 한 문장으로 말하게 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질문이 많이 나오는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체크리스트로 마무리하고 워크시트 4교시 탭을 채점한 뒤 노션에 캡처해 제출하게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flow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data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feature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conv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net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softmax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train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confusion" TargetMode="Externa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5/animation.html#specaug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5/worksheet.html" TargetMode="External"/><Relationship Id="rId2" Type="http://schemas.openxmlformats.org/officeDocument/2006/relationships/hyperlink" Target="https://imguru-mooc.github.io/AI_Voice/day05/animation.html" TargetMode="External"/><Relationship Id="rId3" Type="http://schemas.openxmlformats.org/officeDocument/2006/relationships/hyperlink" Target="https://imguru-mooc.github.io/AI_Voice/day05/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 / 40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오디오 분류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 Commands 키워드 인식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9319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→ Log-Mel → CNN → softmax · loss → 학습 루프 → 혼동 행렬 → SpecAugment → predict_keyword()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T4 GPU 권장 · 실습 노트북 Part 1 ~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2240" y="1005840"/>
            <a:ext cx="5120640" cy="3017520"/>
          </a:xfrm>
          <a:prstGeom prst="roundRect">
            <a:avLst>
              <a:gd name="adj" fmla="val 1818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56832" y="1097280"/>
            <a:ext cx="479145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 1 | train acc 52% | val acc 71%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 6 | train acc 89% | val acc 88%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 12 | train acc 95% | val acc 91%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predict_keyword("my_yes.wav", model)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[('yes', 0.94), ('left', 0.03), ...]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4069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 (값은 실행마다 다름)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 답할 질문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음성을 듣고 단어를 맞히는 모델은 어떻게 만들까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50876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학습 · 테스트로 나눌 때 왜 "화자"를 기준으로 할까?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80015" y="1508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221992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음성은 CNN에게 어떤 모양의 입력이 될까?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180015" y="22219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2935224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935224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CNN의 출력 크기와 파라미터 수는 어떻게 계산할까? softmax와 loss는?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180015" y="293522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648456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648456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한 걸음은 어떤 네 줄로 이루어질까? 과적합은 어떻게 알아볼까?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180015" y="36484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361688"/>
            <a:ext cx="11094415" cy="566928"/>
          </a:xfrm>
          <a:prstGeom prst="roundRect">
            <a:avLst>
              <a:gd name="adj" fmla="val 9677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361688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</a:t>
            </a:r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음성 파일을 넣어 맞히려면 무엇을 학습 때와 똑같이 해야 할까?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180015" y="4361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처음으로 "학습하는 모델"을 만든다. D6 Whisper를 이해하는 바탕이다.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· 오늘의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 → Log-Mel → CNN → "yes"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오늘의 흐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2459885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852160"/>
                <a:gridCol w="41422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Speech Commands, 화자 분할, 1초 맞추기, Log-Mel, Dataset · DataLoader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 ~ 2 · 빈칸 1 ~ 3 · 워크시트 1교시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합성곱 · 출력 크기 · 파라미터, KWSNet, softmax · cross-entropy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4 ~ 5 · 워크시트 2교시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 하강법, 학습 루프, 학습 곡선, 혼동 행렬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~ 5 · 빈칸 6 ~ 7 · 워크시트 3교시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SpecAugment, predict_keyword(), 모델 저장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8 ~ 9 · 워크시트 4교시 · 노션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8064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5806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D5-1 오늘의 흐름 (Part 1~6)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· Speech Commands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단어 하나를 알아듣는 데이터셋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화자 분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217593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71600"/>
          <a:ext cx="395935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706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35개 (오늘은 10개)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10만 5천 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이하 · 16 kHz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2,600명 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80 · 검증 10 · 테스트 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379476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13232" y="3886200"/>
            <a:ext cx="107652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train_meta = torchaudio.datasets.SPEECHCOMMANDS("data", download=True, subset="training")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rel, sr, word, speaker, n = train_meta.get_metadata(i)      # 오디오는 soundfile로 직접 읽기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split(speaker) = hash(speaker) mod 100 → 0~9 검증 · 10~19 테스트 · 나머지 학습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548640" y="54864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85800" y="5486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D5-2 데이터셋과 분할 (누수 비교)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· 입력 모양 맞추기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클립을 16,000 샘플로, 그리고 (1, 64, 101)로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pad_or_tr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0126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np.pad(y, (0, 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len(y)))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153912" y="44348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91072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n_frames = 1 + SR // 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HOP (160)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850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· 16 kHz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(1, 16000)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MelSpectrogram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n_fft 400 · hop 160 · n_mels 64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(1, 64, 101)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AmplitudeToDB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10·log10, top_db 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(1, 64, 101)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Log-Mel 특징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 하나 = 64 × 101 흑백 이미지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키워드별 Log-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98080" cy="30041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371600"/>
            <a:ext cx="3410712" cy="2651760"/>
          </a:xfrm>
          <a:prstGeom prst="roundRect">
            <a:avLst>
              <a:gd name="adj" fmla="val 2069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94192" y="1463040"/>
            <a:ext cx="30815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 = T.MelSpectrogram(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sample_rate=16000,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n_fft=400,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hop_length=160,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n_mels=64)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TO_DB = T.AmplitudeToDB(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top_db=80)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= (x − μ) / σ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μ, σ = 학습 세트 기준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8229600" y="4206240"/>
            <a:ext cx="3410712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366760" y="429768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정규화 원칙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366760" y="4700016"/>
            <a:ext cx="3136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테스트 · 예측에도 학습 세트의 μ, σ를 그대로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57150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57150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D5-3 1초 음성 → Log-Mel (n_mels · hop)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Dataset · DataLoader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"몇 개인가"와 "i번째는 무엇인가"만 알려 주면 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035040" cy="2926080"/>
          </a:xfrm>
          <a:prstGeom prst="roundRect">
            <a:avLst>
              <a:gd name="adj" fmla="val 1875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54480"/>
            <a:ext cx="5705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FeatDataset(Dataset):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self.X, self.y = X, 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__len__(self):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len(self.y)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__getitem__(self, i):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self.y[i]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train_loader = DataLoader(ds, batch_size=128,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shuffle=True)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1463040"/>
            <a:ext cx="4873752" cy="1280160"/>
          </a:xfrm>
          <a:prstGeom prst="roundRect">
            <a:avLst>
              <a:gd name="adj" fmla="val 5714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3720" y="1554480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03720" y="1956816"/>
            <a:ext cx="4599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self.X[i]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DataLoader가 128번 불러 쌓아 한 배치로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926080"/>
          <a:ext cx="48737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620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X_train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(N, 1, 64, 101)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배치 xb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(128, 1, 64, 101)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yb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(128,)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세트 크기: 단어당 1,500개 × 10 = 15,000개 (GPU) · CPU에서는 자동 축소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합성곱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필터와 겹친 칸끼리 곱해서 더하기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합성곱 계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36916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983480"/>
            <a:ext cx="6620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H_out = ⌊(H + 2P − K) / S⌋ + 1      (64 + 2 − 3)/1 + 1 = 64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C_in·C_out·K² + C_out     16·32·9 + 32 = 4,640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80960" y="489204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89204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D5-4 합성곱 (K · P · 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KWSNet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 블록 4개 + GAP + Linear: 약 6만 개 파라미터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모델 구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2958511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모양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1 (1→16)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(16, 32, 50)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 + BN 32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2 (16→32)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(32, 16, 25)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4,640 + 64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3 (32→64)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(64, 8, 12)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18,496 + 128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 4 (64→64)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(64, 4, 6)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36,928 + 128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GAP → Linear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(64,) → (10,)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43484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4348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4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Linear(64, 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n_classes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7680960" y="50749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818120" y="50749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D5-5 모양 추적 · 파라미터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680960" y="562356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61,226개 · float32 약 240 KB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softmax · cross-entropy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→ 확률 → 손실 −log p_y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softmax와 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24063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983480"/>
            <a:ext cx="6620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p_k = e^z_k / Σ e^z_j      L = −log p_y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∂L/∂z = p − onehot      (정답 칸은 올리고, 나머지는 내림)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680960" y="489204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8920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5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.sum(dim=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680960" y="548640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48640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D5-6 softmax · loss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경사 하강법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θ ← θ − η∇L: 기울기 반대로 한 걸음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학습률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54703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미니배치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128개씩 손실 계산 → 한 걸음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epoch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데이터를 한 바퀴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걸음 크기 자동 조절, η = 1e-3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680960" y="493776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818120" y="493776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D5-7 경사 하강법 · 학습 곡선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4.2 · 학습 루프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forward → loss → backward →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766560" cy="3291840"/>
          </a:xfrm>
          <a:prstGeom prst="roundRect">
            <a:avLst>
              <a:gd name="adj" fmla="val 1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554480"/>
            <a:ext cx="64373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xb, yb in loader: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xb, yb = xb.to(DEVICE), yb.to(DEVICE)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model(xb)                  # 1. forward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F.cross_entropy(logits, yb)  # 2. loss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opt.zero_grad()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   # 3. backward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opt.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                     # 4. update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1463040"/>
            <a:ext cx="4142232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55448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1956816"/>
            <a:ext cx="38679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backward, step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98080" y="2743200"/>
            <a:ext cx="4142232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83464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model.train() / model.eval()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35240" y="3236976"/>
            <a:ext cx="3867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Dropout · BatchNorm 동작이 다름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3794760"/>
            <a:ext cx="4142232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8862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@torch.no_grad()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35240" y="4288536"/>
            <a:ext cx="38679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중 기울기 계산 끔 → 빠르고 메모리 절약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 val loss ≈ 2.30 (= log 10)에서 시작해 내려가는지 먼저 확인한다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4.3 · 학습 곡선 읽기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train과 val의 차이가 과적합을 알려 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학습 곡선 예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3359008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469087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 · val 같이 내려감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 배우는 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epoch 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train↓ · val↑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과적합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증강 · Dropout · 조기 종료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높게 멈춤 · NaN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과소적합 · η 과다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키우기 · η 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혼동 행렬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 = 정답, 열 = 예측: 무엇을 무엇으로 헷갈렸나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혼동 행렬 예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863840" cy="339561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595360" y="1371600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759952" y="1463040"/>
            <a:ext cx="271576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recall_k =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C[k,k] / 행 합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precision_k =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C[k,k] / 열 합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2PR/(P+R)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= 대각 / 전체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595360" y="3749040"/>
            <a:ext cx="30449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732520" y="37490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7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dim=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95360" y="4389120"/>
            <a:ext cx="30449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732520" y="4389120"/>
            <a:ext cx="2770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D5-8 혼동 행렬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SpecAugment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가려도 알아듣게: 주파수 · 시간 마스크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pic>
        <p:nvPicPr>
          <p:cNvPr id="6" name="Image 0" descr="SpecAugment 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94415" cy="288748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434840"/>
            <a:ext cx="6949440" cy="13716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4526280"/>
            <a:ext cx="66202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SPEC_AUG = nn.Sequential(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T.FrequencyMasking(freq_mask_param=8),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T.TimeMasking(time_mask_param=12))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hist_aug = fit(model_aug, augment=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7680960" y="4434840"/>
            <a:ext cx="3959352" cy="457200"/>
          </a:xfrm>
          <a:prstGeom prst="roundRect">
            <a:avLst>
              <a:gd name="adj" fmla="val 12000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4434840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8   </a:t>
            </a:r>
            <a:pPr indent="0" marL="0">
              <a:buNone/>
            </a:pPr>
            <a:r>
              <a:rPr lang="en-US" sz="11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augment=</a:t>
            </a:r>
            <a:pPr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정답: augment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680960" y="50749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50749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</a:t>
            </a:r>
            <a:pPr indent="0" marL="0">
              <a:buNone/>
            </a:pPr>
            <a:r>
              <a:rPr lang="en-US" sz="1150" u="sng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D5-9 SpecAugment (🎲)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미니 프로젝트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predict_keyword(): 아무 파일이나 넣으면 top-3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읽기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kHz mono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60549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425141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70861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center_1s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자르고 1초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37050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01642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47362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Log-Mel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× 64 × 101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13552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8144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23864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정규화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세트 μ, σ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890053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054645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00365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모델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66554" y="141732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5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931146" y="1417320"/>
            <a:ext cx="1711909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976866" y="1417320"/>
            <a:ext cx="162046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top-3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(단어, 확률)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2377440"/>
            <a:ext cx="6949440" cy="2194560"/>
          </a:xfrm>
          <a:prstGeom prst="roundRect">
            <a:avLst>
              <a:gd name="adj" fmla="val 25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2468880"/>
            <a:ext cx="66202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y, _ = librosa.load(path, sr=SR, mono=True)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(wav2feat(center_1s(y)) -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/ SD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F.softmax(model(x.unsqueeze(0)), dim=1)[0]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= p.topk(3)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torch.save({"state_dict": ..., "keywords": ...,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"mu": MU, "sd": SD}, "kws_cnn.pt")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680960" y="2377440"/>
            <a:ext cx="3959352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9050">
            <a:solidFill>
              <a:srgbClr val="5FD38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246888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9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8120" y="2871216"/>
            <a:ext cx="3685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정답: MU (학습 세트 평균)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680960" y="3611880"/>
            <a:ext cx="3959352" cy="960120"/>
          </a:xfrm>
          <a:prstGeom prst="roundRect">
            <a:avLst>
              <a:gd name="adj" fmla="val 7619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18120" y="3703320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gTTS로 시험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818120" y="4105656"/>
            <a:ext cx="3685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TTS 목소리는 학습 분포와 달라 일부 틀릴 수 있음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때와 똑같은 전처리 = 같은 길이 · 같은 특징 설정 · 같은 μ, σ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수식으로 정리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열두 줄로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  <a:gridCol w="304495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·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화자 분할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hash(speaker) mod 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∩ 테스트 화자 = 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맞추기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np.pad(y, (0, n − len(y)))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+ ⌊16000/160⌋ = 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(x − μ)/σ, 학습 세트 기준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= b + Σ w·x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D5-4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크기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⌊(H + 2P − K)/S⌋ + 1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파라미터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C_in·C_out·K² + C_out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61,226개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softmax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p_k = e^z_k / Σ e^z_j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cross-entropy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 = −log p_y, ∂L/∂z = p − onehot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autograd 비교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 하강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θ ← θ − η∇L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재현율 · 정밀도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C[k,k]/행 합 · C[k,k]/열 합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 검증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SpecAugment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FrequencyMasking · TimeMasking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빈칸 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 · 헷갈리기 쉬운 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torchaudio.load 오류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torchaudio 2.9+는 I/O를 TorchCodec으로 옮기는 중. 오늘은 soundfile로 읽음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Colab에서 torchaudio를 pip로 다시 설치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torch와 버전이 어긋나 import 오류. 기본 설치 그대로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dim=0 vs dim=1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(B, 10)에서 클래스 방향은 dim=1. softmax 합 · argmax 모두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val과 test의 차이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val은 설정 고르기용, test는 마지막 성적표. test로 고르면 안 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정확도가 실행마다 다름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무작위 초기화 · 섞기 · 증강 때문. 작은 차이는 "비슷하다"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GPU인데 느림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.to(DEVICE)로 안 옮겼거나 CPU 런타임. 런타임 유형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예측이 이상함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 μ, σ 불일치, 1초 맞추기 누락, model.eval() 누락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모양(shape)과 차원(dim)을 소리 내어 읽는 습관이 버그의 절반을 막는다.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것과 다음 단계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85455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463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Speech Commands를 화자 기준으로 나누고 10개 키워드를 골랐다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9202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음성을 (1, 64, 101) Log-Mel로 바꾸고 정규화했다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774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크기와 파라미터 수를 공식으로 예측하고 확인했다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루프를 직접 써서 KWSNet을 학습했다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혼동 행렬로 헷갈리는 단어 쌍을 찾았다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74904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SpecAugment와 predict_keyword()로 미니 프로젝트를 완성했다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589520" y="1463040"/>
            <a:ext cx="4050792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55448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6 · Whisper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1956816"/>
            <a:ext cx="377647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10개 중 하나 고르기 → 어떤 문장이든 받아 적기.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Log-Mel · CNN · 학습 루프가 Whisper 인코더를 이해하는 바탕입니다.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29768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67512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3484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46720" y="4480560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5537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D5_딥러닝오디오분류_실습.ipynb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424160" y="45537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9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83880" y="4937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050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D5 딥러닝 오디오 분류</dc:title>
  <dc:subject>PptxGenJS Presentation</dc:subject>
  <dc:creator>PptxGenJS</dc:creator>
  <cp:lastModifiedBy>PptxGenJS</cp:lastModifiedBy>
  <cp:revision>1</cp:revision>
  <dcterms:created xsi:type="dcterms:W3CDTF">2026-10-13T05:21:47Z</dcterms:created>
  <dcterms:modified xsi:type="dcterms:W3CDTF">2026-10-13T05:21:47Z</dcterms:modified>
</cp:coreProperties>
</file>