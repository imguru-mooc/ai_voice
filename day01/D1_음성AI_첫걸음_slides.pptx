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첫날입니다. 오늘은 음성 AI가 무엇을 하는지 큰 그림을 보고, 실습 환경을 준비한 뒤, 글자를 소리로, 소리를 글자로 바꾸고, 마지막에 듣고 생각하고 말하는 미니 음성 비서까지 직접 만들어 봅니다. 오른쪽은 오늘 노트북에서 보게 될 출력의 예시입니다. RTF 값은 환경에 따라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전체를 관통하는 질문 다섯 개입니다. 수강생에게 지금 아는 만큼 한 줄씩 답을 적게 하고, 과정 마지막 날 다시 비교합니다. 오른쪽 태그는 그 질문을 다루는 일차입니다.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과정은 사용법을 외우는 데서 멈추지 않고, 설명한 내용을 노트북 출력과 애니메이션으로 직접 확인합니다. 오늘도 Whisper를 쓰기만 하지 않고, 스펙트로그램을 눈으로 보고, RTF와 CER로 속도와 정확도를 직접 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비서 하나를 위에서 아래로 잘라 보면 8주 과정이 모두 들어 있습니다. 1주차 오디오 기초에서 출발해 ASR, TTS, LLM 연동, 실시간 전송, 배포까지 한 층씩 깊게 들어갑니다. 오른쪽 두 칸은 모든 층에 걸친 평가와 최종 프로젝트입니다.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과정은 대규모 음성 모델을 처음부터 학습시키는 연구 과정이 아닙니다. 공개된 모델을 가져와 쓰고, 필요하면 Fine-tuning으로 고치고, 실시간 서비스로 조립하는 데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하루 수업은 문제 상황에서 시작해 개념, 애니메이션, 노트북 실습, 빈칸 실습, 워크시트, 정리 순서로 진행합니다. 자료는 슬라이드, 노트북, 애니메이션, 워크시트 네 가지이고, 노트북 각 Part 아래에 애니메이션 바로가기가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AI는 입력과 출력으로 구분하면 쉽습니다. ASR은 소리를 글자로, TTS는 글자를 소리로 바꿉니다. Speech-to-Speech는 글자를 거치지 않고 소리로 바로 대답하고, Voice Agent는 STT, LLM, TTS를 이어 붙인 음성 비서입니다.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기술이 실제로 어디에 쓰이는지 연결해 봅니다. 수강생에게 오늘 아침부터 만난 음성 AI를 물어보면 좋습니다. 최종 프로젝트 주제도 이 네 칸 중 하나에서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1952년 숫자만 인식하던 시스템에서 시작해 통계 모델, 딥러닝 전환, 2022년 Whisper 공개로 큰 전환이 있었습니다. 지금은 실시간으로 대화하고 도구를 쓰는 음성 에이전트 시대입니다.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실습의 기준 환경입니다. 모든 실습은 Colab에서 진행하고, 런타임 유형을 반드시 T4 GPU로 바꿉니다. Claude API 키는 선택 사항이며, 없으면 규칙 기반 응답으로 자동 대체됩니다.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개발환경은 층으로 쌓여 있습니다. Colab은 GPU부터 FFmpeg까지 준비되어 있어서 우리는 음성 라이브러리만 설치합니다. 로컬 PC는 드라이버 위로 모두 직접 맞춰야 합니다. 오류가 나면 아래층부터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1의 설치 셀입니다. faster-whisper는 받아쓰기, edge-tts는 목소리 합성, jiwer는 CER 계산, anthropic은 Claude API입니다. Part 5에서 CUDA 12 라이브러리를 추가로 설치하는 이유는 오류 해결 슬라이드에서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수업은 Colab으로 하지만, 집이나 회사 PC에서는 uv로 같은 환경을 만들 수 있습니다. uv init, uv add, uv run 세 명령만 기억하면 됩니다. 오늘 과제 3번이 이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2입니다. edge-tts가 만든 mp3를 ffmpeg로 16kHz mono WAV로 바꿉니다. 마이크로 녹음한 webm도 같은 길을 거칩니다. 모든 음성 모델이 쓰는 공통 형식이라는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3입니다. 파형은 크기를, 스펙트로그램은 높낮이를 보여줍니다. Whisper는 소리를 스펙트로그램 그림으로 바꿔 읽습니다. 묵음 구간은 모든 높이가 어둡게 보이고, 이 구간을 찾는 기술이 VAD입니다. 애니메이션의 내 목소리 보기 탭에서 실시간으로 시연하세요.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샘플은 소리를 측정한 횟수입니다. 1초에 16,000번 측정했으니 샘플이 80,000개면 5초입니다. 애니메이션의 샘플링 체험 탭에서 측정 횟수를 줄이면 모양이 무너지는 것과, 8kHz와 16kHz 소리 차이를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4와 5입니다. 녹음한 webm을 16kHz WAV로 바꾼 뒤 Whisper로 받아씁니다. faster-whisper는 같은 Whisper를 더 빠르게 실행하고, GPU가 있으면 large-v3-turbo, 없으면 small을 자동 선택합니다.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RTF는 음성 길이 대비 처리 시간입니다. 10초 음성을 1초에 처리하면 0.1로, 실시간보다 10배 빠릅니다. 노트북 출력에서 각자 RTF를 확인하고, 애니메이션 슬라이더로 GPU와 CPU 차이를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CER은 틀린 글자 비율입니다. 다른 글자로 바뀌면 대체, 빠지면 삭제, 끼어들면 삽입입니다. 이 예시는 6글자 중 3번 틀려서 50%입니다. 한국어는 띄어쓰기를 지우고 글자 단위로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sample.wav를 각 단계에서 들여다보면 보이는 것이 다릅니다. 파형은 숫자 배열, 스펙트로그램은 그림, Whisper 출력은 시간이 붙은 글자, CER은 정확도 숫자입니다. 오늘 노트북에서 이 네 가지를 모두 출력해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10월 기준 Colab에서 실제로 만난 오류들이고, 모두 노트북에 해결 코드가 들어가 있습니다. 수강생이 오류를 만나면 개발환경 층 그림과 연결해서 어느 층 문제인지 함께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6입니다. 듣기는 transcribe, 생각하기는 llm_reply, 말하기는 tts입니다. API 키가 없어도 규칙 기반 응답으로 대체되니 모든 수강생이 끝까지 진행할 수 있습니다. 애니메이션의 음성 비서 시뮬레이터로 먼저 동작을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비서의 답변은 소리로 읽히기 때문에 텍스트 챗봇과 달라야 합니다. 노트북의 SYSTEM_PROMPT가 이 규칙을 담고 있습니다. 과제 2에서 이 프롬프트를 바꿔 나만의 캐릭터를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만든 비서는 앞 단계가 끝나야 다음 단계가 시작되므로 기다리는 시간이 세 단계의 합입니다. 사람은 약 0.2초 만에 대답하니 꽤 느리게 느껴집니다. 이를 줄이는 방법이 6주차의 Streaming과 Speech-to-Speech입니다.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체크리스트를 함께 확인합니다. 워크시트는 수업 마지막에 풀고 채점 결과를 PDF로 저장해 제출하게 합니다. 다음 시간에는 오늘 맛만 본 샘플링과 오디오 포맷을 librosa로 깊이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tech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stac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fi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1/animation.html#mic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sampl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as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c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ag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animation.html#ag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1/worksheet.html" TargetMode="External"/><Relationship Id="rId2" Type="http://schemas.openxmlformats.org/officeDocument/2006/relationships/hyperlink" Target="https://imguru-mooc.github.io/AI_Voice/day01/animation.html" TargetMode="External"/><Relationship Id="rId3" Type="http://schemas.openxmlformats.org/officeDocument/2006/relationships/hyperlink" Target="https://imguru-mooc.github.io/AI_Voice/day01/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 / 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 첫걸음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지형도와 개발환경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Listen → Think → Speak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T4 GPU · 실습 노트북 Part 1 ~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09160" cy="329184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0" y="1554480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실습 노트북 1-2 셀 출력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    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사용   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        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Tesla T4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     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/usr/bin/ffmpeg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안녕하세요. 오늘 회의를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시작하겠습니다.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⏱️ RTF 0.05 → 실시간보다 빠름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이 과정이 답하려는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사용법만으로는 답하기 어려운 질문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소리를 그대로 듣지 않는다. 무엇을 "보고" 받아쓸까?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31375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 · D7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404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04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받아쓰기가 "잘 됐다"는 것을 어떻게 숫자로 말할까?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31375" y="24048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181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181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1181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 전문용어를 Whisper가 알아듣게 하려면?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31375" y="3118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D12 · D13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83133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8313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8313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초짜리 목소리만으로 음성을 복제할 수 있을까? 해도 될까?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31375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D19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54456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445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비서는 왜 사람보다 늦게 대답할까? 얼마나 줄일 수 있을까?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631375" y="4544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D21 · D28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넘어가기 전에 각 질문의 답을 한 줄씩 적어 두세요. 과정이 끝난 뒤 다시 비교합니다.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이 과정의 방식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"어떻게 쓰는가"에서 "왜 이렇게 동작하는가"로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54223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사용법 중심 학습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과정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사용하는가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이렇게 동작하는가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결과만 확인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파형 · 스펙트로그램 · RTF · CER · Latency로 직접 측정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model.transcribe() 호출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소리를 어떤 그림으로 바꿔 읽는가, 얼마나 빠르고 정확한가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TTS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파일 만들기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16kHz mono WAV로 바꿔야 하는가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비서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STT, LLM, TTS 연결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단계가 얼마나 오래 걸리는가, 어떻게 줄이는가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차이는 확인 방법: 설명을 듣고 끝내지 않고, 설명한 내용이 사실인지 직접 확인한다.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8주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 단면도로 보는 8주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69164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· 오디오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1691640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디지털 오디오 · 샘플링 · 스펙트로그램 · VAD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04872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40487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듣기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404872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Whisper · faster-whisper · 화자 분리   3주 한국어 Fine-tuning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118104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31181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생각하기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3118104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 Claude API · Tool Calling · RAG · MCP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831336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83133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말하기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3831336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 Kokoro · Chatterbox · Voice Cloning과 윤리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544568"/>
            <a:ext cx="7680960" cy="585216"/>
          </a:xfrm>
          <a:prstGeom prst="roundRect">
            <a:avLst>
              <a:gd name="adj" fmla="val 12500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454456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· 배포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834640" y="4544568"/>
            <a:ext cx="5257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Pipecat · LiveKit · Streaming   7주 FastAPI · Docker · Edge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549640" y="1691640"/>
            <a:ext cx="3090672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50808" y="185623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모든 층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750808" y="2322576"/>
            <a:ext cx="2688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 · WER (정확도)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RTF (속도)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 (음질) · Latency (응답)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549640" y="3456432"/>
            <a:ext cx="3090672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50808" y="3621024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· 최종 프로젝트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750808" y="4087368"/>
            <a:ext cx="2688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콜센터, 키오스크 음성 주문, 회화 튜터 등 한 층도 빠짐없이 조립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5394960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53949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D1-1 오늘의 흐름 (Part 1 ~ 6)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이 과정의 범위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모델을 잘 쓰고, 고치고, 조립하는 과정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61D29"/>
          </a:solidFill>
          <a:ln w="15875">
            <a:solidFill>
              <a:srgbClr val="F0716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856232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다루지 않는다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22576"/>
            <a:ext cx="49926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음성 모델 처음부터 사전학습 (Pretraining)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· 효과음 생성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기반 본인 인증 · 보안 시스템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음성학 · 언어학 이론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856232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다룬다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322576"/>
            <a:ext cx="49926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· Kokoro 등 공개 모델 활용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데이터로 Fine-tuning (3주차)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Tool · MCP 연결 (5주차)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파이프라인과 배포 (6 ~ 7주차)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5720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7548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오늘 쓰는 공개 모델과 도구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faster-whisper (large-v3-turbo)   edge-tts   jiwer   librosa   Claude API (선택)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학습 방법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한 편의 흐름과 자료 구성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61127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162295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08015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74781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775949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21669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188436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389604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35324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실습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02091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003259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8979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실습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15746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616914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62634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Worksheet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0029400" y="16916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0230568" y="1691640"/>
            <a:ext cx="1412487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76288" y="1691640"/>
            <a:ext cx="1321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260604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2788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D1_실습.ipynb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324612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37033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Colab에서 따라 하기 · 빈칸 6개 · 정답 보기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390824" y="260604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73704" y="2788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573704" y="324612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3573704" y="37033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 · 마이크 실시간 · 직접 조작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33008" y="260604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15888" y="2788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15888" y="324612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6415888" y="37033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15문항 · 6가지 유형 · 채점 · PDF 저장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075191" y="260604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58071" y="27889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slides.pptx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258071" y="324612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슬라이드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9258071" y="370332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보는 자료 · 발표자 노트 포함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순서: 슬라이드 설명 → 노트북 따라 하기 (출력 비교, 다르면 오류 해결표) → animation.html 직접 조작 → 빈칸 실습 → worksheet.html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음성 AI 4대 기술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넣고, 무엇을 얻는가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26080" y="173736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26080" y="17373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173736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7373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모델 · Whisper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73736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961120" y="173736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0" y="17373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469880" y="173736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~ 3주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926080" y="260604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26080" y="26060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060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663440" y="260604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63440" y="26060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모델 · edge-tts, Kokoro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26060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961120" y="260604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61120" y="26060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469880" y="2606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4주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4747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Speech-to-Speech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926080" y="34747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926080" y="3474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297680" y="34747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663440" y="347472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63440" y="3474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S2S 모델 · Realtime, Live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34747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8961120" y="34747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961120" y="34747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469880" y="347472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6주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43434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Agent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926080" y="434340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926080" y="4343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297680" y="43434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4663440" y="434340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663440" y="43434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 ›  LLM  ›  TTS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595360" y="43434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8961120" y="434340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961120" y="4343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0469880" y="434340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~ 6주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48640" y="539496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31520" y="53949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D1-2 4대 기술 입출력 흐름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우리 주변의 음성 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매일 쓰고 있는 네 가지 기술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10048" cy="1572768"/>
          </a:xfrm>
          <a:prstGeom prst="roundRect">
            <a:avLst>
              <a:gd name="adj" fmla="val 4651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0195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· 받아쓰기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68296"/>
            <a:ext cx="500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자동 작성 · 동영상 자막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콜센터 녹취 분석 · 음성 검색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3008" y="1737360"/>
            <a:ext cx="5410048" cy="1572768"/>
          </a:xfrm>
          <a:prstGeom prst="roundRect">
            <a:avLst>
              <a:gd name="adj" fmla="val 4651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34176" y="190195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· 읽어주기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34176" y="2368296"/>
            <a:ext cx="500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안내 방송 · 오디오북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내비게이션 · 화면 읽어주기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5410048" cy="1572768"/>
          </a:xfrm>
          <a:prstGeom prst="roundRect">
            <a:avLst>
              <a:gd name="adj" fmla="val 4651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368503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Speech-to-Speech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4151376"/>
            <a:ext cx="500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통역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감정이 살아 있는 자연스러운 대화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33008" y="3520440"/>
            <a:ext cx="5410048" cy="1572768"/>
          </a:xfrm>
          <a:prstGeom prst="roundRect">
            <a:avLst>
              <a:gd name="adj" fmla="val 465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34176" y="368503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Agent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34176" y="4151376"/>
            <a:ext cx="5007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콜센터 상담원 · 예약 비서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키오스크 음성 주문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기술 발전사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규칙에서 딥러닝, 그리고 실시간 에이전트로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97280" y="2697480"/>
            <a:ext cx="9997135" cy="0"/>
          </a:xfrm>
          <a:prstGeom prst="line">
            <a:avLst/>
          </a:prstGeom>
          <a:noFill/>
          <a:ln w="254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1952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78408" y="2578608"/>
            <a:ext cx="237744" cy="237744"/>
          </a:xfrm>
          <a:prstGeom prst="ellipse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Audrey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0~9 인식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031949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1980~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644597" y="2578608"/>
            <a:ext cx="237744" cy="237744"/>
          </a:xfrm>
          <a:prstGeom prst="ellipse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86229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HMM 통계 모델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986229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30년간 표준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698138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10786" y="2578608"/>
            <a:ext cx="237744" cy="237744"/>
          </a:xfrm>
          <a:prstGeom prst="ellipse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2418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전환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652418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크게 감소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364328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76976" y="2578608"/>
            <a:ext cx="237744" cy="237744"/>
          </a:xfrm>
          <a:prstGeom prst="ellipse">
            <a:avLst/>
          </a:prstGeom>
          <a:solidFill>
            <a:srgbClr val="F06FA6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18608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WaveNet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318608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같은 목소리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030517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643165" y="2578608"/>
            <a:ext cx="237744" cy="237744"/>
          </a:xfrm>
          <a:prstGeom prst="ellipse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84797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공개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984797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범용 ASR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696706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309354" y="2578608"/>
            <a:ext cx="237744" cy="237744"/>
          </a:xfrm>
          <a:prstGeom prst="ellipse">
            <a:avLst/>
          </a:prstGeom>
          <a:solidFill>
            <a:srgbClr val="B39DF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50986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음성 대화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8650986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음성으로 직접 대화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10362895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2025~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0975543" y="2578608"/>
            <a:ext cx="237744" cy="237744"/>
          </a:xfrm>
          <a:prstGeom prst="ellipse">
            <a:avLst/>
          </a:prstGeom>
          <a:solidFill>
            <a:srgbClr val="F2B33D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317175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 Agent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10317175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Pipecat · MCP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Whisper 공개 이후 누구나 고품질 음성 인식을 쓸 수 있게 되었고, 이제는 듣고 말하는 에이전트로 발전하고 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실습 환경 기준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Colab · T4 GPU · Python 3.13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223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8346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Runtime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Colab · T4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!nvidia-smi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3.13 (Colab 기본)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sys.version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PyTorch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CUDA 사용 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torch.cuda.is_available()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FFmpeg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기본 설치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!ffmpeg -version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· large-v3-turbo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 5 모델 로드 셀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edge-tts · ko-KR 목소리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 2 목소리 목록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(선택)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API · Colab Secrets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ANTHROPIC_API_KEY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92440" y="1691640"/>
            <a:ext cx="3547872" cy="1965960"/>
          </a:xfrm>
          <a:prstGeom prst="roundRect">
            <a:avLst>
              <a:gd name="adj" fmla="val 372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93608" y="185623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런타임을 선택한다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93608" y="2322576"/>
            <a:ext cx="31455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› 런타임 유형 변경 › T4 GPU › 저장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CPU로 실행해도 동작하지만 ASR이 small 모델로 바뀌고 훨씬 느리다.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092440" y="3840480"/>
            <a:ext cx="3547872" cy="1508760"/>
          </a:xfrm>
          <a:prstGeom prst="roundRect">
            <a:avLst>
              <a:gd name="adj" fmla="val 484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21040" y="4023360"/>
            <a:ext cx="3090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!nvidia-smi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Tesla T4  ...  15360MiB |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사용   : True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4406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없어도 실습은 끝까지 진행된다. Part 6의 LLM이 규칙 기반 응답으로 자동 대체되기 때문이다.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개발환경 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아래층이 맞아야 위층이 동작한다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06FA6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 / Colab 노트북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85800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라이브러리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871216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B33D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871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00984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2B33D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300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730752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B39DF5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16052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B39DF5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/ cuDNN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59028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9AA4B5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4590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Driver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5020056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9AA4B5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5020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하드웨어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PC (uv)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297680" y="201168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44348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 / Colab 노트북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297680" y="244144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4434840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라이브러리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297680" y="2871216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4434840" y="28712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297680" y="3300984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dash"/>
          </a:ln>
        </p:spPr>
      </p:sp>
      <p:sp>
        <p:nvSpPr>
          <p:cNvPr id="31" name="Text 28"/>
          <p:cNvSpPr txBox="1"/>
          <p:nvPr/>
        </p:nvSpPr>
        <p:spPr>
          <a:xfrm>
            <a:off x="4434840" y="3300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297680" y="3730752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443484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297680" y="416052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44348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/ cuDNN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4297680" y="4590288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9AA4B5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34840" y="4590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Driver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4297680" y="5020056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9AA4B5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434840" y="5020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하드웨어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8092440" y="2011680"/>
            <a:ext cx="3547872" cy="3337560"/>
          </a:xfrm>
          <a:prstGeom prst="roundRect">
            <a:avLst>
              <a:gd name="adj" fmla="val 2192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217627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8293608" y="2642616"/>
            <a:ext cx="314553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색이 채워진 층: 이미 준비됨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층: 직접 설치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Colab에서는 맨 위 음성 라이브러리만 pip로 설치한다.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libcublas.so.12 오류는 CUDA 층 문제다.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48640" y="557784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31520" y="55778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D1-3 개발환경 층 쌓기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도구 설치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관찰하고 측정하려면 도구가 먼저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035040" cy="2331720"/>
          </a:xfrm>
          <a:prstGeom prst="roundRect">
            <a:avLst>
              <a:gd name="adj" fmla="val 313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5577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faster-whisper edge-tts \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anthropic jiwer librosa soundfile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설치 완료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 5: CUDA 12용 라이브러리 (GPU 사용 시)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nvidia-cublas-cu12 \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"nvidia-cudnn-cu12==9.*"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691640"/>
          <a:ext cx="48280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896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edge-tts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→ 목소리 합성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파형 · 스펙트로그램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ffmpeg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16kHz mono 변환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faster-whisper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 (ASR)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jiwer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 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anthropic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API (LLM)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5196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42519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gpu_ok = torch.cuda.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is_available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파일은 위에서부터 차례로 실행한다. 중간 셀을 건너뛰면 뒤에서 NameError가 난다.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로컬 개발환경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집에서는 uv로 같은 환경을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 (Windows PowerShell)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irm https://astral.sh/uv/install.ps1 | iex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프로젝트 만들기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init voice-ai &amp;&amp; cd voice-ai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python pin 3.11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add torch faster-whisper edge-tts jiwer jupyterlab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run jupyter lab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69480" y="1691640"/>
            <a:ext cx="4370832" cy="1554480"/>
          </a:xfrm>
          <a:prstGeom prst="roundRect">
            <a:avLst>
              <a:gd name="adj" fmla="val 4706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70648" y="1856232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uv란?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70648" y="2322576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Rust로 만든 매우 빠른 Python 패키지 관리 도구. pip · venv · Python 버전 관리를 한 번에 한다.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69480" y="3429000"/>
            <a:ext cx="4370832" cy="1554480"/>
          </a:xfrm>
          <a:prstGeom prst="roundRect">
            <a:avLst>
              <a:gd name="adj" fmla="val 470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70648" y="3593592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3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470648" y="4059936"/>
            <a:ext cx="3968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PC에 uv로 환경을 만들고 torch.cuda.is_available() 결과 화면을 캡처해 제출한다.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 · TTS 맛보기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 소리 파일이 되기까지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"안녕하세요"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69109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43429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9149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edge-tts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합성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063898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8218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3938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mp3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24kHz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58688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33008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78728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-ar 16000 -ac 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53477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7797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73517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16kHz mono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48266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022586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68306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모델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292608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30906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16kHz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3557016"/>
            <a:ext cx="3112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16,000번 소리를 측정했다는 뜻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338218" y="292608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39386" y="30906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39386" y="3557016"/>
            <a:ext cx="3112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채널이 하나. 음성 모델의 공통 입력 형식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127797" y="292608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8965" y="30906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목소리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8328965" y="3557016"/>
            <a:ext cx="3112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ko-KR-SunHiNeural (여성)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ko-KR-InJoonNeural (남성)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44348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" y="443484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my_voice = "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# 남성 목소리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ko-KR-InJoonNeural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30352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53035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D1-4 소리 파일의 여행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 · 소리 눈으로 보기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보는 두 가지 방법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pic>
        <p:nvPicPr>
          <p:cNvPr id="6" name="Image 0" descr="파형과 스펙트로그램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3283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111405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5275997"/>
            <a:ext cx="500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파형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5678333"/>
            <a:ext cx="500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시간에 따른 소리의 크기. 평평하면 묵음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33008" y="5111405"/>
            <a:ext cx="5410048" cy="960120"/>
          </a:xfrm>
          <a:prstGeom prst="roundRect">
            <a:avLst>
              <a:gd name="adj" fmla="val 7619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34176" y="5275997"/>
            <a:ext cx="500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34176" y="5678333"/>
            <a:ext cx="500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언제, 어떤 높낮이의 소리가 났는가. Whisper가 읽는 그림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6254405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6254405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D1-5 내 목소리 보기 (마이크 실시간)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 · 샘플 수와 길이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수로 오디오 길이를 알 수 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80,000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수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18288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16,000</a:t>
            </a:r>
            <a:endParaRPr lang="en-US" sz="52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1초당 측정 횟수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8288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52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</a:t>
            </a:r>
            <a:endParaRPr lang="en-US" sz="52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길이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6035040" cy="960120"/>
          </a:xfrm>
          <a:prstGeom prst="roundRect">
            <a:avLst>
              <a:gd name="adj" fmla="val 761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703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샘플 수: 80,000 | 샘플링 레이트: 16000 Hz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길이: 5.00초 | 범위: [-0.612, 0.587]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3520440"/>
            <a:ext cx="4828032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13448" y="352044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len(y) / 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sr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84632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8463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D1-6 샘플링 체험 · 길이 계산기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ASR 받아쓰기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그림을 보고 글자를 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목소리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5초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69109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43429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9149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webm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MediaRecorder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063898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8218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3938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16kHz WAV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58688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33008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78728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그림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53477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7797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73517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 이해하기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48266" y="17373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022586" y="1737360"/>
            <a:ext cx="162046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68306" y="1737360"/>
            <a:ext cx="15290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transcribe()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(T4)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large-v3-turbo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정확하고 빠름 · 오늘 기본값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small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가벼움 · 정확도 낮음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812280" y="2926080"/>
            <a:ext cx="4828032" cy="1325880"/>
          </a:xfrm>
          <a:prstGeom prst="roundRect">
            <a:avLst>
              <a:gd name="adj" fmla="val 551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040880" y="3108960"/>
            <a:ext cx="4370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sample.wav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0.00s →  4.20s] 안녕하세요. 음성 AI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⏱️ 처리 0.4s | 오디오 7.8s | RTF 0.05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45262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49808" y="45262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text, segs, info, elapsed = 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(my_wav)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transcribe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534924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31520" y="53492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D1-7 받아쓰기와 RTF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812280" y="4279392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수치는 예시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RTF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속도보다 빨리 받아쓸까?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10초 음성을 1초 만에 받아쓰면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488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</a:t>
            </a:r>
            <a:endParaRPr lang="en-US" sz="110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RTF = 처리 시간 ÷ 음성 길이 = 1 ÷ 10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28523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56248" y="1947672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RTF &lt; 1  ·  실시간보다 빠름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56248" y="2414016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속도보다 빨리 받아쓴다. 음성 비서에 쓸 수 있다.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55080" y="3383280"/>
            <a:ext cx="528523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0716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56248" y="3547872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RTF &gt; 1  ·  실시간보다 느림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556248" y="4014216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파일을 모아서 나중에 처리하는 용도에 맞는다.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CER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글자나 틀렸을까?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46304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6304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6304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33172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3A1F2C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3172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33172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3A1F2C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3172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0040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320040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040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310896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06908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3A2E12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06908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씨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406908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3A2E12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6908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397764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93776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3776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493776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93776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484632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80644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0644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580644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161D29"/>
          </a:solidFill>
          <a:ln w="19050">
            <a:solidFill>
              <a:srgbClr val="2A334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0644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571500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675120" y="182880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2A2442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75120" y="18288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6675120" y="2651760"/>
            <a:ext cx="731520" cy="685800"/>
          </a:xfrm>
          <a:prstGeom prst="roundRect">
            <a:avLst>
              <a:gd name="adj" fmla="val 10667"/>
            </a:avLst>
          </a:prstGeom>
          <a:solidFill>
            <a:srgbClr val="2A2442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675120" y="2651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65836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삽입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7863840" y="17830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8000" dirty="0"/>
          </a:p>
        </p:txBody>
      </p:sp>
      <p:sp>
        <p:nvSpPr>
          <p:cNvPr id="44" name="Text 41"/>
          <p:cNvSpPr txBox="1"/>
          <p:nvPr/>
        </p:nvSpPr>
        <p:spPr>
          <a:xfrm>
            <a:off x="786384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틀림 ÷ 정답 6글자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48640" y="40690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49808" y="40690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 = jiwer.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(ref, hyp)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cer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48640" y="493776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31520" y="49377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D1-8 CER 계산기 (직접 입력)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단계별 관찰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음성, 단계마다 보이는 모습이 다르다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745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librosa.load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배열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788920"/>
            <a:ext cx="2293544" cy="150876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2852928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y.shape = (80000,)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float32, -1 ~ 1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1초에 16,000개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0824" y="173736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73704" y="18745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show_audio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73704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그림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527984" y="2788920"/>
            <a:ext cx="2293544" cy="150876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46856" y="2852928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mel × 약 500 frame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밝을수록 강한 소리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묵음은 어둡게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33008" y="173736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5888" y="18745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15888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+ 글자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370168" y="2788920"/>
            <a:ext cx="2293544" cy="150876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89040" y="2852928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[0.00s → 4.20s]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안녕하세요. 음성 AI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RTF 0.05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075191" y="173736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58071" y="18745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jiwer.cer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258071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212351" y="2788920"/>
            <a:ext cx="2293544" cy="150876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31223" y="2852928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REF와 HYP 비교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대체 · 삭제 · 삽입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 0.00%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709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sample.wav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하나를 네 단계에서 관찰:  </a:t>
            </a:r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→ 그림 → 글자 → 점수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074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수치는 예시이며 실행 환경에 따라 다르다.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· Colab에서 알아 둘 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만날 수 있는 오류와 해결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108960"/>
                <a:gridCol w="3502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(노트북에 반영됨)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open() got an unexpected keyword argument 'metadata_errors'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최신 PyAV와 faster-whisper 충돌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경로 대신 load_16k()로 읽은 numpy 배열 전달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libcublas.so.12 is not found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CUDA 12 라이브러리 없음 (CUDA 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nvidia-cublas-cu12, cudnn 설치 후 미리 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CUDA 사용 : False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유형이 CPU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유형 변경 › T4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NameError: name '____' is not defined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빈칸을 채우지 않고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빈칸을 채운 뒤 다시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녹음 실패 · 마이크 권한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마이크 권한 거부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주소창 권한 허용, 안 되면 sample.wav 사용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나면 개발환경 층 그림을 떠올린다. 메시지가 어느 층 이야기인지부터 찾는다.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 · 미니 음성 비서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만든 부품을 이어 붙인다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음성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11491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31531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77251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듣기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transcribe()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94382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114422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0142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생각하기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llm_reply()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77273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97313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43033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말하기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tts()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60164" y="17373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680204" y="1737360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25924" y="1737360"/>
            <a:ext cx="1871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비서 음성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2926080"/>
            <a:ext cx="6766560" cy="1783080"/>
          </a:xfrm>
          <a:prstGeom prst="roundRect">
            <a:avLst>
              <a:gd name="adj" fmla="val 4103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10896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🧩 빈칸 실습 6: 함수 이름 3개로 조립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user_text =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transcribe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(input_wav)[0]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reply, _  =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llm_reply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(user_text)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await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tts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(reply, "my_agent.wav")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589520" y="2926080"/>
            <a:ext cx="4050792" cy="1783080"/>
          </a:xfrm>
          <a:prstGeom prst="roundRect">
            <a:avLst>
              <a:gd name="adj" fmla="val 41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90688" y="309067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없다면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90688" y="3557016"/>
            <a:ext cx="36484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llm_reply()가 규칙 기반 응답으로 자동 대체된다.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몇 시야?" → 현재 시각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9834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49834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D1-9 음성 비서 시뮬레이터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 · 음성용 답변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비서의 답변은 짧은 말투로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비서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 · 목록 · 이모지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기호가 그대로 읽히므로 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길고 자세한 답변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~ 2문장, 길면 기다림이 늘어남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문어체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구어체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괄호로 보충 설명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괄호 없이 문장으로 풀기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12280" y="1691640"/>
            <a:ext cx="4828032" cy="2514600"/>
          </a:xfrm>
          <a:prstGeom prst="roundRect">
            <a:avLst>
              <a:gd name="adj" fmla="val 29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0" y="1874520"/>
            <a:ext cx="43708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"당신은 친절한 한국어 음성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비서입니다. 답변은 TTS로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읽히므로 마크다운, 목록,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이모지, 괄호를 쓰지 말고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1~2문장의 짧은 구어체로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답하세요."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2: SYSTEM_PROMPT를 바꿔 나만의 음성 비서 캐릭터 (예: 영어 회화 선생님) 만들기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 · 응답 시간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기다리는 시간 = 세 단계의 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377375" cy="731520"/>
          </a:xfrm>
          <a:prstGeom prst="rect">
            <a:avLst/>
          </a:prstGeom>
          <a:solidFill>
            <a:srgbClr val="4FD1B5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83080"/>
            <a:ext cx="2377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0.3초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15" y="1783080"/>
            <a:ext cx="5547208" cy="731520"/>
          </a:xfrm>
          <a:prstGeom prst="rect">
            <a:avLst/>
          </a:prstGeom>
          <a:solidFill>
            <a:srgbClr val="F2B33D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15" y="1783080"/>
            <a:ext cx="5547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0.7초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73222" y="1783080"/>
            <a:ext cx="3169833" cy="731520"/>
          </a:xfrm>
          <a:prstGeom prst="rect">
            <a:avLst/>
          </a:prstGeom>
          <a:solidFill>
            <a:srgbClr val="F06FA6"/>
          </a:solidFill>
          <a:ln w="25400">
            <a:solidFill>
              <a:srgbClr val="1115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73222" y="1783080"/>
            <a:ext cx="316983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0.4초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값. 실제 값은 노트북 Part 6의 막대 그래프로 확인한다.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33192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약 0.2초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3785616"/>
            <a:ext cx="31129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상대가 말을 끝낸 뒤 대답이 시작되기까지의 평균 간격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38218" y="315468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39386" y="33192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Streaming · 6주차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539386" y="3785616"/>
            <a:ext cx="31129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단계가 끝나기 전에 조금씩 먼저 넘겨 첫 소리를 앞당긴다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27797" y="3154680"/>
            <a:ext cx="3515258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8965" y="33192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Speech-to-Speech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328965" y="3785616"/>
            <a:ext cx="31129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글자로 바꾸는 단계를 없애 더 빨리 대답한다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5029200"/>
            <a:ext cx="566928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50292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D1-9 음성 비서 · Streaming 비교 켜기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 Day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오디오와 음성 신호 처리 기초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64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torch.cuda.is_available()가 True다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edge-tts로 내 문장을 남자 목소리로 만들었다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2606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파형과 스펙트로그램을 보고 묵음 구간을 찾았다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목소리를 받아쓰고 RTF를 확인했다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CER을 계산하고 대체 · 삭제 · 삽입을 구분했다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977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3개로 음성 비서를 조립했다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35240" y="1691640"/>
            <a:ext cx="4005072" cy="2606040"/>
          </a:xfrm>
          <a:prstGeom prst="roundRect">
            <a:avLst>
              <a:gd name="adj" fmla="val 2807"/>
            </a:avLst>
          </a:prstGeom>
          <a:solidFill>
            <a:srgbClr val="1E1A10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36408" y="1856232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2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836408" y="2322576"/>
            <a:ext cx="360273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본 한 줄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수: 80,000 | 16000 Hz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 80,000개는 어떻게 만들어지고, 무엇을 잃고 무엇을 남길까?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875178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15문항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이해도 확인 워크시트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38218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1098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64757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1098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27797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10677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D1_실습.ipynb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454335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310677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100" u="sng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 음성 AI 첫걸음</dc:title>
  <dc:subject>PptxGenJS Presentation</dc:subject>
  <dc:creator>PptxGenJS</dc:creator>
  <cp:lastModifiedBy>PptxGenJS</cp:lastModifiedBy>
  <cp:revision>1</cp:revision>
  <dcterms:created xsi:type="dcterms:W3CDTF">2026-10-05T07:08:24Z</dcterms:created>
  <dcterms:modified xsi:type="dcterms:W3CDTF">2026-10-05T07:08:24Z</dcterms:modified>
</cp:coreProperties>
</file>